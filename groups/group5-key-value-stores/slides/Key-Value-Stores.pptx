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6"/>
  </p:notesMasterIdLst>
  <p:sldIdLst>
    <p:sldId id="257" r:id="rId2"/>
    <p:sldId id="259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6" r:id="rId12"/>
    <p:sldId id="278" r:id="rId13"/>
    <p:sldId id="280" r:id="rId14"/>
    <p:sldId id="282" r:id="rId15"/>
    <p:sldId id="284" r:id="rId16"/>
    <p:sldId id="286" r:id="rId17"/>
    <p:sldId id="288" r:id="rId18"/>
    <p:sldId id="290" r:id="rId19"/>
    <p:sldId id="292" r:id="rId20"/>
    <p:sldId id="294" r:id="rId21"/>
    <p:sldId id="296" r:id="rId22"/>
    <p:sldId id="298" r:id="rId23"/>
    <p:sldId id="300" r:id="rId24"/>
    <p:sldId id="302" r:id="rId25"/>
    <p:sldId id="303" r:id="rId26"/>
    <p:sldId id="304" r:id="rId27"/>
    <p:sldId id="306" r:id="rId28"/>
    <p:sldId id="308" r:id="rId29"/>
    <p:sldId id="310" r:id="rId30"/>
    <p:sldId id="312" r:id="rId31"/>
    <p:sldId id="314" r:id="rId32"/>
    <p:sldId id="315" r:id="rId33"/>
    <p:sldId id="316" r:id="rId34"/>
    <p:sldId id="317" r:id="rId35"/>
    <p:sldId id="318" r:id="rId36"/>
    <p:sldId id="319" r:id="rId37"/>
    <p:sldId id="321" r:id="rId38"/>
    <p:sldId id="323" r:id="rId39"/>
    <p:sldId id="325" r:id="rId40"/>
    <p:sldId id="327" r:id="rId41"/>
    <p:sldId id="329" r:id="rId42"/>
    <p:sldId id="331" r:id="rId43"/>
    <p:sldId id="333" r:id="rId44"/>
    <p:sldId id="334" r:id="rId45"/>
    <p:sldId id="336" r:id="rId46"/>
    <p:sldId id="338" r:id="rId47"/>
    <p:sldId id="340" r:id="rId48"/>
    <p:sldId id="342" r:id="rId49"/>
    <p:sldId id="344" r:id="rId50"/>
    <p:sldId id="345" r:id="rId51"/>
    <p:sldId id="346" r:id="rId52"/>
    <p:sldId id="348" r:id="rId53"/>
    <p:sldId id="349" r:id="rId54"/>
    <p:sldId id="350" r:id="rId55"/>
    <p:sldId id="351" r:id="rId56"/>
    <p:sldId id="352" r:id="rId57"/>
    <p:sldId id="353" r:id="rId58"/>
    <p:sldId id="354" r:id="rId59"/>
    <p:sldId id="355" r:id="rId60"/>
    <p:sldId id="356" r:id="rId61"/>
    <p:sldId id="357" r:id="rId62"/>
    <p:sldId id="358" r:id="rId63"/>
    <p:sldId id="359" r:id="rId64"/>
    <p:sldId id="360" r:id="rId65"/>
    <p:sldId id="361" r:id="rId66"/>
    <p:sldId id="362" r:id="rId67"/>
    <p:sldId id="363" r:id="rId68"/>
    <p:sldId id="364" r:id="rId69"/>
    <p:sldId id="365" r:id="rId70"/>
    <p:sldId id="366" r:id="rId71"/>
    <p:sldId id="367" r:id="rId72"/>
    <p:sldId id="368" r:id="rId73"/>
    <p:sldId id="369" r:id="rId74"/>
    <p:sldId id="370" r:id="rId75"/>
    <p:sldId id="371" r:id="rId76"/>
    <p:sldId id="372" r:id="rId77"/>
    <p:sldId id="373" r:id="rId78"/>
    <p:sldId id="374" r:id="rId79"/>
    <p:sldId id="375" r:id="rId80"/>
    <p:sldId id="376" r:id="rId81"/>
    <p:sldId id="377" r:id="rId82"/>
    <p:sldId id="378" r:id="rId83"/>
    <p:sldId id="379" r:id="rId84"/>
    <p:sldId id="380" r:id="rId85"/>
    <p:sldId id="381" r:id="rId86"/>
    <p:sldId id="382" r:id="rId87"/>
    <p:sldId id="383" r:id="rId88"/>
    <p:sldId id="384" r:id="rId89"/>
    <p:sldId id="385" r:id="rId90"/>
    <p:sldId id="386" r:id="rId91"/>
    <p:sldId id="387" r:id="rId92"/>
    <p:sldId id="388" r:id="rId93"/>
    <p:sldId id="389" r:id="rId94"/>
    <p:sldId id="390" r:id="rId95"/>
    <p:sldId id="391" r:id="rId96"/>
    <p:sldId id="392" r:id="rId97"/>
    <p:sldId id="393" r:id="rId98"/>
    <p:sldId id="394" r:id="rId99"/>
    <p:sldId id="395" r:id="rId100"/>
    <p:sldId id="396" r:id="rId101"/>
    <p:sldId id="397" r:id="rId102"/>
    <p:sldId id="398" r:id="rId103"/>
    <p:sldId id="400" r:id="rId104"/>
    <p:sldId id="401" r:id="rId10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3" roundtripDataSignature="AMtx7mhiKvC/koEUc4X3AjRi8DUGdA01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CB3DAC-505E-45D4-8230-F1D8ACD333B4}">
  <a:tblStyle styleId="{E0CB3DAC-505E-45D4-8230-F1D8ACD333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5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5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Einfache Datenstruktur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JOIN: Tabellen zusammenführen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Schema: keine einheitliche struktur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Foreign Key: logische verknüpfung von tabellen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Sehr schnell (machen nur eine Sache, dafür extrem gut)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“Besonders hohe Geschwindigkeiten werden erreicht, wenn Key-Value-Stores die Daten primär im Arbeitsspeicher halten. Ein bekanntes Beispiel dafür ist Redis. “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Redis ist in-Memory-Key-Value-Store (Keine reine Key-Value-Store, atomare Operationen möglich)</a:t>
            </a:r>
            <a:endParaRPr/>
          </a:p>
        </p:txBody>
      </p:sp>
      <p:sp>
        <p:nvSpPr>
          <p:cNvPr id="313" name="Google Shape;3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28b8276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3e28b82767f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Datenbank = Bibliothek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Cache = Tisch, mit beliebtesten Büchern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Hot Data (Häufigkeit)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komplexe Querries (teuer)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Eviction = Wenn Speicher voll ist ( LRU, Least recently Used, LFU, Least Frequently Used)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Invalidation (wenn sich Daten ändern, Cache update oder gelöscht)</a:t>
            </a:r>
            <a:endParaRPr/>
          </a:p>
        </p:txBody>
      </p:sp>
      <p:sp>
        <p:nvSpPr>
          <p:cNvPr id="354" name="Google Shape;354;g3e28b82767f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lang="en-US" sz="1150" b="1"/>
              <a:t>Faustregel: Feste Struktur und Queries auf Felder noetig? --&gt; Document Store. Nur schneller Key-Lookup? --&gt; KV-Store!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/>
              <a:t>verbindung zu redis herstellen. standartport, decode_response=True -&gt; werte als String, nicht als Bytes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SET: Erstellt oder ueberschreibt einen Key. Wichtig: Der ex-Parameter setzt einen TTL (Time-To-Live) in Sekunden -- nach Ablauf wird der Key automatisch geloescht. Perfekt fuer Caching und Sessions.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GET: Gibt den Value zurueck oder None wenn der Key nicht existiert. Kein Fehler bei nicht-existenten Keys!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Wenn Key nicht existiert, None zurück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DELETE: Loescht Keys und gibt die Anzahl geloeschter Keys zurueck. Kann mehrere Keys auf einmal loeschen.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51A03"/>
                </a:solidFill>
              </a:rPr>
              <a:t>1 = Key gelöscht, 0 = Key existiert nicht</a:t>
            </a:r>
            <a:endParaRPr sz="1300">
              <a:solidFill>
                <a:srgbClr val="451A03"/>
              </a:solidFill>
            </a:endParaRPr>
          </a:p>
        </p:txBody>
      </p:sp>
      <p:sp>
        <p:nvSpPr>
          <p:cNvPr id="582" name="Google Shape;58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51A03"/>
                </a:solidFill>
              </a:rPr>
              <a:t>Redis ist MEHR als nur String-KV! Fuenf Datentypen durchgehen: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String: Der einfachste Typ. INCR fuer atomare Counter ist besonders nuetzlich (z.B. Seitenaufrufe zaehlen).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List: LPush Links am anfang rein (Liste also queue = ["job2", "job1"]), rpop entfernt rechte ende der Liste, lrange = Gibt alle Elemente der Liste zurück, 0 = start und -1 letze Element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Hash: hgetall gibt den kompletten Hash zurücl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Set: Menge(Set) unter dem Key Tags (keine Duplikate, keine Reihenfolge), sinter gibt die Schnittmenge zweier Tags zurück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Sorted Set: Set + Scores, sortierung passiet automatisch nach scores, zrange: gibt alle Elemente sortiert nach Score (aufsteigend) zurück), zrank: gibt Position im Scoreboard aus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51A03"/>
                </a:solidFill>
              </a:rPr>
              <a:t>Tipp: All diese Befehle kommen in der Demo und Challenge dran!</a:t>
            </a:r>
            <a:endParaRPr/>
          </a:p>
        </p:txBody>
      </p:sp>
      <p:sp>
        <p:nvSpPr>
          <p:cNvPr id="614" name="Google Shape;61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/>
              <a:t>Kein JOIN  --  Kein WHERE  --  Kein Schema  --  Nur: Key --&gt; Value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>
                <a:latin typeface="Consolas"/>
                <a:ea typeface="Consolas"/>
                <a:cs typeface="Consolas"/>
                <a:sym typeface="Consolas"/>
              </a:rPr>
              <a:t>hset = Vlaues mit struktur r.hset("user:1", mapping={"name": "Anna", "city": "Berlin"})</a:t>
            </a:r>
            <a:endParaRPr sz="9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user:* durchsucht die gesamte Datenmenge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r.scan_iter arbeitet kleine chunks ab </a:t>
            </a:r>
            <a:endParaRPr/>
          </a:p>
        </p:txBody>
      </p:sp>
      <p:sp>
        <p:nvSpPr>
          <p:cNvPr id="673" name="Google Shape;673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4" name="Google Shape;72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" name="Google Shape;757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" name="Google Shape;81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" name="Google Shape;82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Dynamo ist Key-Value Datenbankdienst 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sehr gut skalierbar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legt wert auf: Jede Frage bekommt eine Antwort(Availability), System ist immer erreichbar(Partition Tolerance) 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endParaRPr sz="1300">
              <a:solidFill>
                <a:srgbClr val="451A03"/>
              </a:solidFill>
            </a:endParaRPr>
          </a:p>
        </p:txBody>
      </p:sp>
      <p:sp>
        <p:nvSpPr>
          <p:cNvPr id="830" name="Google Shape;830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9" name="Google Shape;84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>
                <a:solidFill>
                  <a:srgbClr val="334155"/>
                </a:solidFill>
              </a:rPr>
              <a:t>Zehntausende Server, Dutzende Datenzentren weltweit, Hunderte Microservices. Die Plattform bedient Millionen Kunden in Spitzenzeiten. Selbst der kleinste Ausfall hat erhebliche finanzielle Konsequenzen und schädigt das Kundenvertrauen.</a:t>
            </a:r>
            <a:endParaRPr/>
          </a:p>
        </p:txBody>
      </p:sp>
      <p:sp>
        <p:nvSpPr>
          <p:cNvPr id="850" name="Google Shape;850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CAP: A+Partition(System funktioniert auch wenn Netzwerke getrennt) &gt; Consistency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51A03"/>
                </a:solidFill>
              </a:rPr>
              <a:t>Jede Frage bekommt eine Antwort(Availability), System ist immer erreichbar(Partition Tolerance) </a:t>
            </a:r>
            <a:endParaRPr/>
          </a:p>
        </p:txBody>
      </p:sp>
      <p:sp>
        <p:nvSpPr>
          <p:cNvPr id="889" name="Google Shape;889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ACID steht für: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tomicity (Alles oder nichts)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onsistency (Daten bleiben korrekt nach Regeln)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solation (Transaktionen stören sich nicht)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urability (Daten bleiben dauerhaft gespeichert)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7" name="Google Shape;96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>
                <a:solidFill>
                  <a:srgbClr val="334155"/>
                </a:solidFill>
              </a:rPr>
              <a:t>Vorteil: Wenn ein Node hinzugefügt oder entfernt wird, ändert sich nur die Zuordnung der unmittelbaren Nachbarn. Alle anderen Nodes bleiben unbeeinflusst.</a:t>
            </a:r>
            <a:endParaRPr/>
          </a:p>
        </p:txBody>
      </p:sp>
      <p:sp>
        <p:nvSpPr>
          <p:cNvPr id="968" name="Google Shape;968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e28b82767f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7" name="Google Shape;997;g3e28b82767f_2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g3e28b82767f_2_2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e28b82767f_2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5" name="Google Shape;1025;g3e28b82767f_2_2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g3e28b82767f_2_2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e28b82767f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4" name="Google Shape;1054;g3e28b82767f_2_2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g3e28b82767f_2_2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e28b82767f_2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2" name="Google Shape;1092;g3e28b82767f_2_3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g3e28b82767f_2_3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e28b82767f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g3e28b82767f_2_3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g3e28b82767f_2_3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•Node B (Primary)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•Node C (Replica)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•Node D (Replica)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Versionieruns Beispiel Wert 12-&gt;13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1" name="Google Shape;118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Syntaktisch: zB höhere Version gewinnt (basiert auf Metadaten)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Demantisch: zB mittelwert etc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Bei dynamo zuerst syntaktisch dann semantisch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>
                <a:solidFill>
                  <a:srgbClr val="451A03"/>
                </a:solidFill>
              </a:rPr>
              <a:t>Konflikte werden bei get() gelöst</a:t>
            </a: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300">
              <a:solidFill>
                <a:srgbClr val="451A0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endParaRPr sz="1300">
              <a:solidFill>
                <a:srgbClr val="451A03"/>
              </a:solidFill>
            </a:endParaRPr>
          </a:p>
        </p:txBody>
      </p:sp>
      <p:sp>
        <p:nvSpPr>
          <p:cNvPr id="1182" name="Google Shape;1182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5" name="Google Shape;1215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 = Wieviele Nodes Schreiboperation bestätigen damit Write als erfolreich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 = Lesebestätigung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and Write müssen sich auf einer Node überschneiden (min ein gemeinsamer Replica zwischen Read und Write)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-&gt;Mindestens ein Read-Node hat den neuesten Write gesehen.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Sloppy Quorum: Wenn die „eigentlichen“ Replica-Nodes gerade nicht erreichbar sind, schreibt oder liest das System temporär auf anderen Nodes weiter.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Hinted Handoff: Andere Nodes bekommen Hinweis, das die ausgefallene Node die Info noch bekommen muss</a:t>
            </a:r>
            <a:endParaRPr/>
          </a:p>
        </p:txBody>
      </p:sp>
      <p:sp>
        <p:nvSpPr>
          <p:cNvPr id="1216" name="Google Shape;1216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3" name="Google Shape;1253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Merkle Trees: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Key-Value: "user1" → "Anna", "user2" → "Bob"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Leaf Hash: H1 = hash("user1:Anna"), H2 = hash("user2:Bob")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H12 = hash(H1 + H2) = wenn sie identisch sind top, wenn nicht kleinere Gruppierungen bis Fehler gefunden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Gossip Protokoll: O(log 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Nodes tauschen periodisch mit zufälligen anderen nodes Infos aus (Broadcast extrem teuer)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 besten für failure detection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Repair: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Wärend des Reads sieht veralterte daten,  automatisch update der Replikate, weniger Hintergrund-Synchronisation</a:t>
            </a:r>
            <a:endParaRPr/>
          </a:p>
        </p:txBody>
      </p:sp>
      <p:sp>
        <p:nvSpPr>
          <p:cNvPr id="1254" name="Google Shape;1254;p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2" name="Google Shape;128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Business-Logic Reconciliation: Was ist fachlich korrekt. Hier entscheidet nicht Zeit, sondern: Geschäftsregeln, Domain-Logik, Anwendung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Timestamp-based Reconciliation: „Welche Version ist die neueste?“ Das System nutzt: Timestamp, Version number, Vector Clock (vereinfacht: Zeitlogik)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High-Performance Read Engine: Writes sind selten, Reads sind extrem häufig. Wenn W = N gilt:  alle Replikas haben garantiert den neuesten Stand, Cache synchron zur Source of Truth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1" name="Google Shape;1311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Millionen request - ohne Downtime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Gleiche Versionen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nierdrige Latenz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Replikas beste Lastverteilung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/>
              <a:t>Diese Zahlen zeigen: Eventual Consistency funktioniert in Produktion!</a:t>
            </a:r>
            <a:endParaRPr/>
          </a:p>
        </p:txBody>
      </p:sp>
      <p:sp>
        <p:nvSpPr>
          <p:cNvPr id="1312" name="Google Shape;1312;p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9" name="Google Shape;1359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9" name="Google Shape;1379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3a86b571a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8" name="Google Shape;1388;g3a86b571af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g3a86b571af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3" name="Google Shape;1423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4" name="Google Shape;1424;p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5" name="Google Shape;1465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6" name="Google Shape;1466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8" name="Google Shape;1518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p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9" name="Google Shape;1549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3e253f854a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0" name="Google Shape;1590;g3e253f854a2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g3e253f854a2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e253f854a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0" name="Google Shape;1600;g3e253f854a2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g3e253f854a2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0" name="Google Shape;1610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0" name="Google Shape;1630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rPr lang="en-US" sz="1150">
                <a:solidFill>
                  <a:srgbClr val="334155"/>
                </a:solidFill>
              </a:rPr>
              <a:t>D)</a:t>
            </a:r>
            <a:endParaRPr sz="1150">
              <a:solidFill>
                <a:srgbClr val="33415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Die Hash-Funktion bildet den Key direkt auf eine Speicheradresse ab. Das funktioniert in konstanter Zeit, unabhaengig von der Datenmenge.</a:t>
            </a:r>
            <a:endParaRPr/>
          </a:p>
        </p:txBody>
      </p:sp>
      <p:sp>
        <p:nvSpPr>
          <p:cNvPr id="1631" name="Google Shape;1631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a86b571af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0" name="Google Shape;1640;g3a86b571af3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rPr lang="en-US" sz="1150">
                <a:solidFill>
                  <a:srgbClr val="334155"/>
                </a:solidFill>
              </a:rPr>
              <a:t>D)</a:t>
            </a:r>
            <a:endParaRPr sz="1150">
              <a:solidFill>
                <a:srgbClr val="33415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Die Hash-Funktion bildet den Key direkt auf eine Speicheradresse ab. Das funktioniert in konstanter Zeit, unabhaengig von der Datenmenge.</a:t>
            </a:r>
            <a:endParaRPr/>
          </a:p>
        </p:txBody>
      </p:sp>
      <p:sp>
        <p:nvSpPr>
          <p:cNvPr id="1641" name="Google Shape;1641;g3a86b571af3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3a86b571af3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5" name="Google Shape;1655;g3a86b571af3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rPr lang="en-US" sz="1150">
                <a:solidFill>
                  <a:srgbClr val="334155"/>
                </a:solidFill>
              </a:rPr>
              <a:t>D)</a:t>
            </a:r>
            <a:endParaRPr sz="1150">
              <a:solidFill>
                <a:srgbClr val="33415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Die Hash-Funktion bildet den Key direkt auf eine Speicheradresse ab. Das funktioniert in konstanter Zeit, unabhaengig von der Datenmenge.</a:t>
            </a:r>
            <a:endParaRPr/>
          </a:p>
        </p:txBody>
      </p:sp>
      <p:sp>
        <p:nvSpPr>
          <p:cNvPr id="1656" name="Google Shape;1656;g3a86b571af3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g3a86b571af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5" name="Google Shape;1675;g3a86b571af3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rPr lang="en-US" sz="1150">
                <a:solidFill>
                  <a:srgbClr val="334155"/>
                </a:solidFill>
              </a:rPr>
              <a:t>D)</a:t>
            </a:r>
            <a:endParaRPr sz="1150">
              <a:solidFill>
                <a:srgbClr val="33415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Die Hash-Funktion bildet den Key direkt auf eine Speicheradresse ab. Das funktioniert in konstanter Zeit, unabhaengig von der Datenmenge.</a:t>
            </a:r>
            <a:endParaRPr/>
          </a:p>
        </p:txBody>
      </p:sp>
      <p:sp>
        <p:nvSpPr>
          <p:cNvPr id="1676" name="Google Shape;1676;g3a86b571af3_0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g3a86b571af3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0" name="Google Shape;1700;g3a86b571af3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rPr lang="en-US" sz="1150">
                <a:solidFill>
                  <a:srgbClr val="334155"/>
                </a:solidFill>
              </a:rPr>
              <a:t>D)</a:t>
            </a:r>
            <a:endParaRPr sz="1150">
              <a:solidFill>
                <a:srgbClr val="334155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Die Hash-Funktion bildet den Key direkt auf eine Speicheradresse ab. Das funktioniert in konstanter Zeit, unabhaengig von der Datenmenge.</a:t>
            </a:r>
            <a:endParaRPr/>
          </a:p>
        </p:txBody>
      </p:sp>
      <p:sp>
        <p:nvSpPr>
          <p:cNvPr id="1701" name="Google Shape;1701;g3a86b571af3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0" name="Google Shape;1730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Der Parameter ex (Expiry in Seconds) setzt die Ablaufzeit. Alternativ gibt es px fuer Millisekunden.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3a86b571af3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0" name="Google Shape;1740;g3a86b571af3_0_3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Der Parameter ex (Expiry in Seconds) setzt die Ablaufzeit. Alternativ gibt es px fuer Millisekunden.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g3a86b571af3_0_3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3a86b571af3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5" name="Google Shape;1755;g3a86b571af3_0_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Der Parameter ex (Expiry in Seconds) setzt die Ablaufzeit. Alternativ gibt es px fuer Millisekunden.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6" name="Google Shape;1756;g3a86b571af3_0_3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a86b571af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5" name="Google Shape;1775;g3a86b571af3_0_2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Der Parameter ex (Expiry in Seconds) setzt die Ablaufzeit. Alternativ gibt es px fuer Millisekunden.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g3a86b571af3_0_2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a86b571af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0" name="Google Shape;1800;g3a86b571af3_0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Der Parameter ex (Expiry in Seconds) setzt die Ablaufzeit. Alternativ gibt es px fuer Millisekunden.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g3a86b571af3_0_2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a86b571af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0" name="Google Shape;1830;g3a86b571af3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Im KV-Store ist der Value opaque (undurchsichtig). Document Stores wie MongoDB indexieren Felder und erlauben feldbasierte Queries.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g3a86b571af3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3a86b571af3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0" name="Google Shape;1840;g3a86b571af3_0_4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Im KV-Store ist der Value opaque (undurchsichtig). Document Stores wie MongoDB indexieren Felder und erlauben feldbasierte Queries.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g3a86b571af3_0_4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a86b571af3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5" name="Google Shape;1855;g3a86b571af3_0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Im KV-Store ist der Value opaque (undurchsichtig). Document Stores wie MongoDB indexieren Felder und erlauben feldbasierte Queries.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g3a86b571af3_0_4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a86b571af3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5" name="Google Shape;1875;g3a86b571af3_0_4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Im KV-Store ist der Value opaque (undurchsichtig). Document Stores wie MongoDB indexieren Felder und erlauben feldbasierte Queries.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g3a86b571af3_0_4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3a86b571af3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0" name="Google Shape;1900;g3a86b571af3_0_3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Erklärung: Im KV-Store ist der Value opaque (undurchsichtig). Document Stores wie MongoDB indexieren Felder und erlauben feldbasierte Queries.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g3a86b571af3_0_3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0" name="Google Shape;1930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a86b571af3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0" name="Google Shape;1940;g3a86b571af3_0_6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g3a86b571af3_0_6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3a86b571af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5" name="Google Shape;1955;g3a86b571af3_0_5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g3a86b571af3_0_5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a86b571af3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5" name="Google Shape;1975;g3a86b571af3_0_5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g3a86b571af3_0_5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a86b571af3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0" name="Google Shape;2000;g3a86b571af3_0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g3a86b571af3_0_5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3a86b571af3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0" name="Google Shape;2030;g3a86b571af3_0_4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Dynamo ist ein AP-System: Writes werden nie abgelehnt. Konsistenz wird durch Eventual Consistency und applikationsseitige Rekonziliation erreicht.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1" name="Google Shape;2031;g3a86b571af3_0_4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3" name="Google Shape;2063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3a86b571af3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3" name="Google Shape;2073;g3a86b571af3_0_7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g3a86b571af3_0_7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a86b571af3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8" name="Google Shape;2088;g3a86b571af3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9" name="Google Shape;2089;g3a86b571af3_0_7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g3a86b571af3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8" name="Google Shape;2108;g3a86b571af3_0_7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9" name="Google Shape;2109;g3a86b571af3_0_7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a86b571af3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3" name="Google Shape;2133;g3a86b571af3_0_6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g3a86b571af3_0_6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3a86b571af3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3" name="Google Shape;2163;g3a86b571af3_0_6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Vector Clocks sind Listen von (Node, Counter)-Paaren, die Kausalitaet zwischen Versionen erfassen. Parallele Branches bedeuten Konflikte.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4" name="Google Shape;2164;g3a86b571af3_0_6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6" name="Google Shape;2196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7" name="Google Shape;2197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a86b571af3_0_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6" name="Google Shape;2206;g3a86b571af3_0_9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g3a86b571af3_0_9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3a86b571af3_0_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1" name="Google Shape;2221;g3a86b571af3_0_9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g3a86b571af3_0_9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3a86b571af3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1" name="Google Shape;2241;g3a86b571af3_0_8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2" name="Google Shape;2242;g3a86b571af3_0_8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3a86b571af3_0_8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6" name="Google Shape;2266;g3a86b571af3_0_8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7" name="Google Shape;2267;g3a86b571af3_0_8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3a86b571af3_0_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6" name="Google Shape;2296;g3a86b571af3_0_8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N=3 Replicas, R=2 fuer Reads, W=2 fuer Writes. Diese Konfiguration balanciert Performance, Konsistenz und Verfuegbarkeit.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g3a86b571af3_0_8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9" name="Google Shape;2329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3a86b571af3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9" name="Google Shape;2339;g3a86b571af3_0_10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0" name="Google Shape;2340;g3a86b571af3_0_10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3a86b571af3_0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4" name="Google Shape;2354;g3a86b571af3_0_10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5" name="Google Shape;2355;g3a86b571af3_0_10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3a86b571af3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4" name="Google Shape;2374;g3a86b571af3_0_10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5" name="Google Shape;2375;g3a86b571af3_0_10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g3a86b571af3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9" name="Google Shape;2399;g3a86b571af3_0_10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0" name="Google Shape;2400;g3a86b571af3_0_10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3a86b571af3_0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9" name="Google Shape;2429;g3a86b571af3_0_9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TTL-basiertes Ablaufen ist kein Ersatz fuer aktive Loeschung. Art. 17 (Right to be Forgotten) muss explizit implementiert werden.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0" name="Google Shape;2430;g3a86b571af3_0_9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2" name="Google Shape;2462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3" name="Google Shape;2463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g3a86b571af3_0_1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2" name="Google Shape;2472;g3a86b571af3_0_1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3" name="Google Shape;2473;g3a86b571af3_0_12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3a86b571af3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7" name="Google Shape;2487;g3a86b571af3_0_1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g3a86b571af3_0_12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g3a86b571af3_0_1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7" name="Google Shape;2507;g3a86b571af3_0_1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8" name="Google Shape;2508;g3a86b571af3_0_11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3a86b571af3_0_1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2" name="Google Shape;2532;g3a86b571af3_0_1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3" name="Google Shape;2533;g3a86b571af3_0_11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3a86b571af3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2" name="Google Shape;2562;g3a86b571af3_0_1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Bei Hinted Handoff geht die Replica an einen Ersatz-Node mit einem Hint (Vermerk), an wen sie eigentlich gehoert. Nach Recovery wird nachgeliefert.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3" name="Google Shape;2563;g3a86b571af3_0_1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5" name="Google Shape;2595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6" name="Google Shape;2596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3a86b571af3_0_1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5" name="Google Shape;2605;g3a86b571af3_0_14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g3a86b571af3_0_14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g3a86b571af3_0_1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0" name="Google Shape;2620;g3a86b571af3_0_13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1" name="Google Shape;2621;g3a86b571af3_0_13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g3a86b571af3_0_1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0" name="Google Shape;2640;g3a86b571af3_0_13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1" name="Google Shape;2641;g3a86b571af3_0_13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g3a86b571af3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5" name="Google Shape;2665;g3a86b571af3_0_1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6" name="Google Shape;2666;g3a86b571af3_0_1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g3a86b571af3_0_1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5" name="Google Shape;2695;g3a86b571af3_0_12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</a:rPr>
              <a:t>Erklaerung: Aehnlich wie bei Reinforcement Learning kann zufaellige Exploration sicherstellen, dass auch weniger populaere Inhalte eine Chance bekommen.</a:t>
            </a:r>
            <a:endParaRPr sz="11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6" name="Google Shape;2696;g3a86b571af3_0_12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g3e253f854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8" name="Google Shape;2738;g3e253f854a2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g3e253f854a2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8" name="Google Shape;27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Advanced Data Models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73152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Key-Value Stores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2560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Ilyas Tachakor</a:t>
            </a:r>
            <a:r>
              <a:rPr lang="en-US" sz="1600" b="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lang="en-US" sz="16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Nick Albrecht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Sommersemester 202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0" y="4754880"/>
            <a:ext cx="3017520" cy="3886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017520" y="4754880"/>
            <a:ext cx="3017520" cy="3886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035040" y="4754880"/>
            <a:ext cx="3108960" cy="3886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20040" y="1005840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320040" y="1005840"/>
            <a:ext cx="64008" cy="5669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84632" y="1115568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914400" y="11155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703320" y="111556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0040" y="167335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20040" y="1673352"/>
            <a:ext cx="64008" cy="5669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84632" y="178308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14400" y="17830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Konzeptuelles Modell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703320" y="178308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0040" y="2340864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20040" y="2340864"/>
            <a:ext cx="6400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84632" y="245059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4400" y="245059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Datenstruktur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703320" y="245059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20040" y="300837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20040" y="3008376"/>
            <a:ext cx="64008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84632" y="311810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14400" y="311810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Query-Modell (Redis-Python)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703320" y="311810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0040" y="367588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20040" y="3675888"/>
            <a:ext cx="64008" cy="5669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84632" y="3785616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" y="378561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Architektur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703320" y="37856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4343400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20040" y="4343400"/>
            <a:ext cx="64008" cy="5669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84632" y="4453128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14400" y="4453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703320" y="445312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709160" y="1005840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709160" y="1005840"/>
            <a:ext cx="64008" cy="5669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873752" y="1115568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303520" y="11155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Ethik &amp; Governance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092440" y="111556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709160" y="167335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709160" y="1673352"/>
            <a:ext cx="64008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873752" y="178308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303520" y="178308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Praktische Demo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092440" y="178308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709160" y="2340864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709160" y="2340864"/>
            <a:ext cx="6400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873752" y="2450592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303520" y="245059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8092440" y="245059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709160" y="300837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709160" y="3008376"/>
            <a:ext cx="64008" cy="5669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873752" y="3118104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303520" y="3118104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092440" y="311810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09160" y="367588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09160" y="3675888"/>
            <a:ext cx="64008" cy="5669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873752" y="3785616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Georgia"/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303520" y="378561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Diskussion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092440" y="378561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Motivation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Warum Key-Value Stores? Datenmodell und </a:t>
            </a: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Anwendungsfälle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--  10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234450" y="155524"/>
            <a:ext cx="9144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Warum brauchen wir </a:t>
            </a:r>
            <a:r>
              <a:rPr lang="en-US" sz="2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Alternativen zu relationalen</a:t>
            </a:r>
            <a:r>
              <a:rPr lang="en-US" sz="2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Datenbanken?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65710" y="1305993"/>
            <a:ext cx="8412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65710" y="1305993"/>
            <a:ext cx="63900" cy="914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48590" y="1379145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Skalierungsprobleme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590" y="1744904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Vertikale Skalierung (teurere Hardware) ist begrenzt. Horizontale Skalierung mit JOINs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viele Tabellen ist extrem komplex.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10" y="2357553"/>
            <a:ext cx="8412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65710" y="2357553"/>
            <a:ext cx="639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590" y="2430705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Unn</a:t>
            </a:r>
            <a:r>
              <a:rPr lang="en-US" sz="15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ö</a:t>
            </a:r>
            <a:r>
              <a:rPr lang="en-US" sz="15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tige </a:t>
            </a:r>
            <a:r>
              <a:rPr lang="en-US" sz="15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Komplexität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590" y="2796465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Viele Services brauchen nur: Schl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ssel rein, Wert raus. ACID-Transaktionen, Schema-Definitionen und SQL-Parsing verursachen Overhead.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65710" y="3409113"/>
            <a:ext cx="8412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65710" y="3409113"/>
            <a:ext cx="63900" cy="9144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48590" y="3482264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Verf</a:t>
            </a:r>
            <a:r>
              <a:rPr lang="en-US" sz="1500" b="1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gbarkeits-Tradeoff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590" y="3848025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Relationale Replikation priorisiert Konsistenz. Bei Netzwerkausf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llen werden Daten lieber unavailable als inkonsistent.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 Key-Value Datenmodell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914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120640" y="9144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40" y="137160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48640" y="137160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user:1001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474720" y="13716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120640" y="1371600"/>
            <a:ext cx="347472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120640" y="13716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{"name":"Anna","age":29}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214884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548640" y="214884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session:abc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474720" y="21488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120640" y="2148840"/>
            <a:ext cx="347472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120640" y="21488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"tok_98afbd12c4e7"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292608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548640" y="292608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price:item42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474720" y="292608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120640" y="2926080"/>
            <a:ext cx="347472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5120640" y="29260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12.99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3703320"/>
            <a:ext cx="274320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48640" y="37033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config:theme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474720" y="370332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120640" y="3703320"/>
            <a:ext cx="3474720" cy="5943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120640" y="37033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CA5A5"/>
                </a:solidFill>
                <a:latin typeface="Consolas"/>
                <a:ea typeface="Consolas"/>
                <a:cs typeface="Consolas"/>
                <a:sym typeface="Consolas"/>
              </a:rPr>
              <a:t>"dark-mode"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Anwendungsf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ä</a:t>
            </a: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lle f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ü</a:t>
            </a: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 Key-Value Stores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65760" y="987552"/>
            <a:ext cx="8412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365760" y="987552"/>
            <a:ext cx="64008" cy="7132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548640" y="104241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High-Performance Caching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383280" y="1042416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Seiteninhalte und API-Antworten im RAM speichern.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Beispiel: Redis als Cache-Layer vor einer SQL-Datenbank.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65760" y="1792224"/>
            <a:ext cx="8412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365760" y="1792224"/>
            <a:ext cx="64008" cy="71323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548640" y="18470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Session Management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383280" y="1847088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User-Sessions speichern: key = session_id,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value = User-Objekt (Login-Status, Sprache, Warenkorb).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65760" y="2596896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48640" y="26517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Warenkorb (Shopping Cart)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383280" y="2651760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cart:user_id --&gt; JSON mit Artikeln.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Genau so setzt Amazon es mit Dynamo ein.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65760" y="3401568"/>
            <a:ext cx="8412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365760" y="3401568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548640" y="34564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Echtzeit-Anwendungen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383280" y="3456432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Aktienkurse, Sport-Scores, IoT-Sensordaten.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= AAPL, value = 182.50 -- jede Sekunde aktualisiert.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365760" y="4206240"/>
            <a:ext cx="64008" cy="7132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548640" y="426110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Feature Flags und A/B-Tests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383280" y="4261104"/>
            <a:ext cx="5303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flag:dark_mode --&gt; true/false.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Schnell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änderbar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ohne Deployment.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Geschichte und Entstehung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188720" y="1097280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1280160" y="1353312"/>
            <a:ext cx="3657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274320" y="105156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1990er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1600200" y="100584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1600200" y="1005840"/>
            <a:ext cx="64008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783080" y="1078992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Relationale Datenbanken dominieren. ACID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überall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188720" y="1755648"/>
            <a:ext cx="256032" cy="2560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1280160" y="2011680"/>
            <a:ext cx="3657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274320" y="170992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2003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1600200" y="1664208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600200" y="1664208"/>
            <a:ext cx="64008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"/>
          <p:cNvSpPr/>
          <p:nvPr/>
        </p:nvSpPr>
        <p:spPr>
          <a:xfrm>
            <a:off x="1783080" y="173736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Google: Bigtable -- verteilter Speicher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strukturierte Daten.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1188720" y="2414016"/>
            <a:ext cx="256032" cy="25603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280160" y="2670048"/>
            <a:ext cx="3657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274320" y="236829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2007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600200" y="2322576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1600200" y="2322576"/>
            <a:ext cx="64008" cy="5029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1783080" y="2395728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Amazon Dynamo Paper (SOSP) --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hochverfügbarer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KV-Store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E-Commerce.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188720" y="3072384"/>
            <a:ext cx="256032" cy="2560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280160" y="3328416"/>
            <a:ext cx="3657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274320" y="3026664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2009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600200" y="2980944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600200" y="2980944"/>
            <a:ext cx="64008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1783080" y="3054096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Redis 1.0 erscheint -- In-Memory KV-Store mit reichen Datentypen.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188720" y="3730752"/>
            <a:ext cx="256032" cy="25603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1280160" y="3986784"/>
            <a:ext cx="36576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274320" y="3685032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2010+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600200" y="3639312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600200" y="3639312"/>
            <a:ext cx="64008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783080" y="3712464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Memcached, Riak, Voldemort, DynamoDB verbreiten sich.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188720" y="4389120"/>
            <a:ext cx="256032" cy="256032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274320" y="434340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heute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1600200" y="4297680"/>
            <a:ext cx="7132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1600200" y="4297680"/>
            <a:ext cx="64008" cy="502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783080" y="4370832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als Kernkomponente jeder modernen Cloud-Architektur.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Konzeptuelles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Modell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Kernstruktur, Analogien und Abgrenzung  --  1</a:t>
            </a: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Analogie: Das 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Wörterbuch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701540" y="1051560"/>
            <a:ext cx="40692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4701540" y="1051560"/>
            <a:ext cx="63900" cy="3840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4884420" y="11430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W</a:t>
            </a:r>
            <a:r>
              <a:rPr lang="en-US" sz="1600" b="1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ö</a:t>
            </a:r>
            <a:r>
              <a:rPr lang="en-US" sz="1600" b="1" i="0" u="none" strike="noStrike" cap="none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rterbuch-Prinzip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4884420" y="1554480"/>
            <a:ext cx="3657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Schl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ssel ist einzigartig. Suche erfolgt direkt,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ohne sequentielles Durchsuchen.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884420" y="228600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4975860" y="233172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Apfel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4975860" y="260604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Frucht, rund, rot oder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grün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4884420" y="306324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4975860" y="310896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Datenbank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4975860" y="338328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sehr schnell, gut skalierbar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4884420" y="384048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4975860" y="388620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Redis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975860" y="416052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Remote Dictionary Server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300990" y="1051560"/>
            <a:ext cx="41148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300990" y="1051560"/>
            <a:ext cx="63900" cy="3840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483870" y="1143000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Kernprinzipien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83870" y="169164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Eindeutiger Key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83870" y="201168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Jeder Key existiert genau einmal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483870" y="246888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O(1) Zugriff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endParaRPr sz="1300" b="1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83870" y="278892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Hash-Funktion garantiert konstante Zugriffszeit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endParaRPr sz="11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83870" y="324612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Opaque Value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483870" y="356616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DB kennt Struktur des Values nicht (schema-less)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483870" y="402336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Keine Relationen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483870" y="4343400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Kein JOIN, kein Schema, kein Foreign Key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28b82767f_2_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28b82767f_2_4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Cache im Key-Value-Store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28b82767f_2_4"/>
          <p:cNvSpPr/>
          <p:nvPr/>
        </p:nvSpPr>
        <p:spPr>
          <a:xfrm>
            <a:off x="320040" y="1051560"/>
            <a:ext cx="40692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3e28b82767f_2_4"/>
          <p:cNvSpPr/>
          <p:nvPr/>
        </p:nvSpPr>
        <p:spPr>
          <a:xfrm>
            <a:off x="320040" y="1051560"/>
            <a:ext cx="63900" cy="3840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e28b82767f_2_4"/>
          <p:cNvSpPr/>
          <p:nvPr/>
        </p:nvSpPr>
        <p:spPr>
          <a:xfrm>
            <a:off x="502920" y="11430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312E81"/>
                </a:solidFill>
                <a:latin typeface="Georgia"/>
                <a:ea typeface="Georgia"/>
                <a:cs typeface="Georgia"/>
                <a:sym typeface="Georgia"/>
              </a:rPr>
              <a:t>Funktion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e28b82767f_2_4"/>
          <p:cNvSpPr/>
          <p:nvPr/>
        </p:nvSpPr>
        <p:spPr>
          <a:xfrm>
            <a:off x="502925" y="1554474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 speichert im RAM (schnell aber begrenzt)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Lösung: Neue Cache Schicht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28b82767f_2_4"/>
          <p:cNvSpPr/>
          <p:nvPr/>
        </p:nvSpPr>
        <p:spPr>
          <a:xfrm>
            <a:off x="502920" y="228600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e28b82767f_2_4"/>
          <p:cNvSpPr/>
          <p:nvPr/>
        </p:nvSpPr>
        <p:spPr>
          <a:xfrm>
            <a:off x="594345" y="2331725"/>
            <a:ext cx="2081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Was wird gecacht?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e28b82767f_2_4"/>
          <p:cNvSpPr/>
          <p:nvPr/>
        </p:nvSpPr>
        <p:spPr>
          <a:xfrm>
            <a:off x="594360" y="260604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Hot Data, komplexe Querriers, zuletzt Verwendete Daten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28b82767f_2_4"/>
          <p:cNvSpPr/>
          <p:nvPr/>
        </p:nvSpPr>
        <p:spPr>
          <a:xfrm>
            <a:off x="502920" y="306324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e28b82767f_2_4"/>
          <p:cNvSpPr/>
          <p:nvPr/>
        </p:nvSpPr>
        <p:spPr>
          <a:xfrm>
            <a:off x="594342" y="3108950"/>
            <a:ext cx="2522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Wann wird Cache gelöscht?</a:t>
            </a:r>
            <a:endParaRPr sz="1200" b="1" i="0" u="none" strike="noStrike" cap="none">
              <a:solidFill>
                <a:srgbClr val="312E8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g3e28b82767f_2_4"/>
          <p:cNvSpPr/>
          <p:nvPr/>
        </p:nvSpPr>
        <p:spPr>
          <a:xfrm>
            <a:off x="594360" y="338328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TTL, Eviction (LRU, LFU), Invalidation, restart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28b82767f_2_4"/>
          <p:cNvSpPr/>
          <p:nvPr/>
        </p:nvSpPr>
        <p:spPr>
          <a:xfrm>
            <a:off x="502920" y="3840480"/>
            <a:ext cx="3703200" cy="640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e28b82767f_2_4"/>
          <p:cNvSpPr/>
          <p:nvPr/>
        </p:nvSpPr>
        <p:spPr>
          <a:xfrm>
            <a:off x="594340" y="3886200"/>
            <a:ext cx="280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Cache-Aside Pattern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e28b82767f_2_4"/>
          <p:cNvSpPr/>
          <p:nvPr/>
        </p:nvSpPr>
        <p:spPr>
          <a:xfrm>
            <a:off x="594360" y="416052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Webserver entscheidet woher die Daten kommen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28b82767f_2_4"/>
          <p:cNvSpPr/>
          <p:nvPr/>
        </p:nvSpPr>
        <p:spPr>
          <a:xfrm>
            <a:off x="6121489" y="1081500"/>
            <a:ext cx="1371600" cy="48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Client</a:t>
            </a:r>
            <a:endParaRPr/>
          </a:p>
        </p:txBody>
      </p:sp>
      <p:sp>
        <p:nvSpPr>
          <p:cNvPr id="372" name="Google Shape;372;g3e28b82767f_2_4"/>
          <p:cNvSpPr/>
          <p:nvPr/>
        </p:nvSpPr>
        <p:spPr>
          <a:xfrm>
            <a:off x="6121489" y="1877038"/>
            <a:ext cx="1371600" cy="48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Webserver</a:t>
            </a:r>
            <a:endParaRPr/>
          </a:p>
        </p:txBody>
      </p:sp>
      <p:sp>
        <p:nvSpPr>
          <p:cNvPr id="373" name="Google Shape;373;g3e28b82767f_2_4"/>
          <p:cNvSpPr/>
          <p:nvPr/>
        </p:nvSpPr>
        <p:spPr>
          <a:xfrm>
            <a:off x="6121489" y="2824150"/>
            <a:ext cx="1371600" cy="48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Cache</a:t>
            </a:r>
            <a:endParaRPr/>
          </a:p>
        </p:txBody>
      </p:sp>
      <p:sp>
        <p:nvSpPr>
          <p:cNvPr id="374" name="Google Shape;374;g3e28b82767f_2_4"/>
          <p:cNvSpPr/>
          <p:nvPr/>
        </p:nvSpPr>
        <p:spPr>
          <a:xfrm>
            <a:off x="6121489" y="3991975"/>
            <a:ext cx="1371600" cy="48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Datenbank</a:t>
            </a:r>
            <a:endParaRPr/>
          </a:p>
        </p:txBody>
      </p:sp>
      <p:cxnSp>
        <p:nvCxnSpPr>
          <p:cNvPr id="375" name="Google Shape;375;g3e28b82767f_2_4"/>
          <p:cNvCxnSpPr/>
          <p:nvPr/>
        </p:nvCxnSpPr>
        <p:spPr>
          <a:xfrm>
            <a:off x="6487121" y="1570200"/>
            <a:ext cx="0" cy="30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g3e28b82767f_2_4"/>
          <p:cNvSpPr txBox="1"/>
          <p:nvPr/>
        </p:nvSpPr>
        <p:spPr>
          <a:xfrm>
            <a:off x="4578328" y="1514250"/>
            <a:ext cx="16083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Request key “user123” </a:t>
            </a:r>
            <a:endParaRPr sz="1000"/>
          </a:p>
        </p:txBody>
      </p:sp>
      <p:cxnSp>
        <p:nvCxnSpPr>
          <p:cNvPr id="377" name="Google Shape;377;g3e28b82767f_2_4"/>
          <p:cNvCxnSpPr/>
          <p:nvPr/>
        </p:nvCxnSpPr>
        <p:spPr>
          <a:xfrm>
            <a:off x="6479117" y="2365738"/>
            <a:ext cx="0" cy="45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8" name="Google Shape;378;g3e28b82767f_2_4"/>
          <p:cNvSpPr txBox="1"/>
          <p:nvPr/>
        </p:nvSpPr>
        <p:spPr>
          <a:xfrm>
            <a:off x="4641037" y="2362350"/>
            <a:ext cx="16428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/>
              <a:t>Hast du Key “user123”?</a:t>
            </a:r>
            <a:endParaRPr sz="1000" i="1"/>
          </a:p>
        </p:txBody>
      </p:sp>
      <p:cxnSp>
        <p:nvCxnSpPr>
          <p:cNvPr id="379" name="Google Shape;379;g3e28b82767f_2_4"/>
          <p:cNvCxnSpPr/>
          <p:nvPr/>
        </p:nvCxnSpPr>
        <p:spPr>
          <a:xfrm rot="10800000">
            <a:off x="6814471" y="2362875"/>
            <a:ext cx="5100" cy="4626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g3e28b82767f_2_4"/>
          <p:cNvSpPr txBox="1"/>
          <p:nvPr/>
        </p:nvSpPr>
        <p:spPr>
          <a:xfrm>
            <a:off x="6725040" y="2385550"/>
            <a:ext cx="6960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6"/>
                </a:solidFill>
              </a:rPr>
              <a:t>Cache Hit</a:t>
            </a:r>
            <a:endParaRPr sz="1000">
              <a:solidFill>
                <a:schemeClr val="accent6"/>
              </a:solidFill>
            </a:endParaRPr>
          </a:p>
        </p:txBody>
      </p:sp>
      <p:cxnSp>
        <p:nvCxnSpPr>
          <p:cNvPr id="381" name="Google Shape;381;g3e28b82767f_2_4"/>
          <p:cNvCxnSpPr/>
          <p:nvPr/>
        </p:nvCxnSpPr>
        <p:spPr>
          <a:xfrm rot="10800000">
            <a:off x="7138764" y="1578375"/>
            <a:ext cx="0" cy="29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2" name="Google Shape;382;g3e28b82767f_2_4"/>
          <p:cNvSpPr txBox="1"/>
          <p:nvPr/>
        </p:nvSpPr>
        <p:spPr>
          <a:xfrm>
            <a:off x="7083439" y="1518825"/>
            <a:ext cx="8742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Value</a:t>
            </a:r>
            <a:endParaRPr sz="1000"/>
          </a:p>
        </p:txBody>
      </p:sp>
      <p:cxnSp>
        <p:nvCxnSpPr>
          <p:cNvPr id="383" name="Google Shape;383;g3e28b82767f_2_4"/>
          <p:cNvCxnSpPr>
            <a:stCxn id="373" idx="2"/>
            <a:endCxn id="374" idx="0"/>
          </p:cNvCxnSpPr>
          <p:nvPr/>
        </p:nvCxnSpPr>
        <p:spPr>
          <a:xfrm>
            <a:off x="6807289" y="3312850"/>
            <a:ext cx="0" cy="679200"/>
          </a:xfrm>
          <a:prstGeom prst="straightConnector1">
            <a:avLst/>
          </a:prstGeom>
          <a:noFill/>
          <a:ln w="9525" cap="flat" cmpd="sng">
            <a:solidFill>
              <a:srgbClr val="DC262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4" name="Google Shape;384;g3e28b82767f_2_4"/>
          <p:cNvSpPr txBox="1"/>
          <p:nvPr/>
        </p:nvSpPr>
        <p:spPr>
          <a:xfrm>
            <a:off x="5841864" y="3443013"/>
            <a:ext cx="8742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</a:rPr>
              <a:t>Cache Miss</a:t>
            </a:r>
            <a:endParaRPr sz="1000">
              <a:solidFill>
                <a:srgbClr val="DC2626"/>
              </a:solidFill>
            </a:endParaRPr>
          </a:p>
        </p:txBody>
      </p:sp>
      <p:grpSp>
        <p:nvGrpSpPr>
          <p:cNvPr id="385" name="Google Shape;385;g3e28b82767f_2_4"/>
          <p:cNvGrpSpPr/>
          <p:nvPr/>
        </p:nvGrpSpPr>
        <p:grpSpPr>
          <a:xfrm>
            <a:off x="7493089" y="2121388"/>
            <a:ext cx="801600" cy="2114938"/>
            <a:chOff x="8085400" y="2121388"/>
            <a:chExt cx="801600" cy="2114938"/>
          </a:xfrm>
        </p:grpSpPr>
        <p:cxnSp>
          <p:nvCxnSpPr>
            <p:cNvPr id="386" name="Google Shape;386;g3e28b82767f_2_4"/>
            <p:cNvCxnSpPr>
              <a:stCxn id="374" idx="3"/>
            </p:cNvCxnSpPr>
            <p:nvPr/>
          </p:nvCxnSpPr>
          <p:spPr>
            <a:xfrm>
              <a:off x="8085400" y="4236325"/>
              <a:ext cx="799200" cy="0"/>
            </a:xfrm>
            <a:prstGeom prst="straightConnector1">
              <a:avLst/>
            </a:prstGeom>
            <a:noFill/>
            <a:ln w="9525" cap="flat" cmpd="sng">
              <a:solidFill>
                <a:srgbClr val="DC262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g3e28b82767f_2_4"/>
            <p:cNvCxnSpPr/>
            <p:nvPr/>
          </p:nvCxnSpPr>
          <p:spPr>
            <a:xfrm rot="10800000">
              <a:off x="8883375" y="2129550"/>
              <a:ext cx="0" cy="2106300"/>
            </a:xfrm>
            <a:prstGeom prst="straightConnector1">
              <a:avLst/>
            </a:prstGeom>
            <a:noFill/>
            <a:ln w="9525" cap="flat" cmpd="sng">
              <a:solidFill>
                <a:srgbClr val="DC262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g3e28b82767f_2_4"/>
            <p:cNvCxnSpPr>
              <a:endCxn id="372" idx="3"/>
            </p:cNvCxnSpPr>
            <p:nvPr/>
          </p:nvCxnSpPr>
          <p:spPr>
            <a:xfrm rot="10800000">
              <a:off x="8085400" y="2121388"/>
              <a:ext cx="801600" cy="3900"/>
            </a:xfrm>
            <a:prstGeom prst="straightConnector1">
              <a:avLst/>
            </a:prstGeom>
            <a:noFill/>
            <a:ln w="9525" cap="flat" cmpd="sng">
              <a:solidFill>
                <a:srgbClr val="DC262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389" name="Google Shape;389;g3e28b82767f_2_4"/>
          <p:cNvCxnSpPr/>
          <p:nvPr/>
        </p:nvCxnSpPr>
        <p:spPr>
          <a:xfrm>
            <a:off x="7359896" y="2362875"/>
            <a:ext cx="0" cy="470700"/>
          </a:xfrm>
          <a:prstGeom prst="straightConnector1">
            <a:avLst/>
          </a:prstGeom>
          <a:noFill/>
          <a:ln w="9525" cap="flat" cmpd="sng">
            <a:solidFill>
              <a:srgbClr val="DC262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0" name="Google Shape;390;g3e28b82767f_2_4"/>
          <p:cNvSpPr txBox="1"/>
          <p:nvPr/>
        </p:nvSpPr>
        <p:spPr>
          <a:xfrm>
            <a:off x="7302205" y="2362350"/>
            <a:ext cx="938700" cy="4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C2626"/>
                </a:solidFill>
              </a:rPr>
              <a:t>Schreibt in Cache</a:t>
            </a:r>
            <a:endParaRPr sz="1000">
              <a:solidFill>
                <a:srgbClr val="DC262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Key-Value Store vs. Document Store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320040" y="1005840"/>
            <a:ext cx="4206240" cy="457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320040" y="10058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Key-Value Store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"/>
          <p:cNvSpPr/>
          <p:nvPr/>
        </p:nvSpPr>
        <p:spPr>
          <a:xfrm>
            <a:off x="4709160" y="10058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Store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320040" y="1554480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457200" y="16002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Value ist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die DB ein opaker Blob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4709160" y="1554480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4846320" y="160020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DB versteht die Dokument-Struktur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320040" y="221284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457200" y="2258568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Lookup nur per exaktem Key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4709160" y="221284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4846320" y="2258568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Queries auf Felder im Dokument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möglich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320040" y="2871216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9"/>
          <p:cNvSpPr/>
          <p:nvPr/>
        </p:nvSpPr>
        <p:spPr>
          <a:xfrm>
            <a:off x="457200" y="2916936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Extrem schnell und einfach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4709160" y="2871216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9"/>
          <p:cNvSpPr/>
          <p:nvPr/>
        </p:nvSpPr>
        <p:spPr>
          <a:xfrm>
            <a:off x="4846320" y="2916936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Flexibler, aber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höherer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Overhead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320040" y="3529584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9"/>
          <p:cNvSpPr/>
          <p:nvPr/>
        </p:nvSpPr>
        <p:spPr>
          <a:xfrm>
            <a:off x="457200" y="3575304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Ideal: Caching, Sessions, Counters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4709160" y="3529584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4846320" y="3575304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Ideal: Produktkataloge, User-Profile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320040" y="4187952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9"/>
          <p:cNvSpPr/>
          <p:nvPr/>
        </p:nvSpPr>
        <p:spPr>
          <a:xfrm>
            <a:off x="457200" y="4233672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Redis, Memcached, DynamoDB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4709160" y="4187952"/>
            <a:ext cx="42062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4846320" y="4233672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MongoDB, CouchDB, Firestore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Datenstruktur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Physische und logische Speicherung, Schema-</a:t>
            </a: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Flexibilität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--  15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Logische Struktur: Die Hash Table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3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2651760" y="1051560"/>
            <a:ext cx="146304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3"/>
          <p:cNvSpPr/>
          <p:nvPr/>
        </p:nvSpPr>
        <p:spPr>
          <a:xfrm>
            <a:off x="2651760" y="1051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Hash(Key)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4297680" y="1051560"/>
            <a:ext cx="82296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4297680" y="105156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5303520" y="1051560"/>
            <a:ext cx="338328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5303520" y="1051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457200" y="1508760"/>
            <a:ext cx="8229600" cy="62179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457200" y="1508760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1B4B"/>
                </a:solidFill>
                <a:latin typeface="Consolas"/>
                <a:ea typeface="Consolas"/>
                <a:cs typeface="Consolas"/>
                <a:sym typeface="Consolas"/>
              </a:rPr>
              <a:t>user:1001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2651760" y="1508760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0x3F4A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4297680" y="1508760"/>
            <a:ext cx="8229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#2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5303520" y="1508760"/>
            <a:ext cx="33832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{"name":"Anna","email":"a@ex.com"}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457200" y="2258568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457200" y="2258568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1B4B"/>
                </a:solidFill>
                <a:latin typeface="Consolas"/>
                <a:ea typeface="Consolas"/>
                <a:cs typeface="Consolas"/>
                <a:sym typeface="Consolas"/>
              </a:rPr>
              <a:t>session:abc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2651760" y="2258568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0x12BE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4297680" y="2258568"/>
            <a:ext cx="8229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#7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5303520" y="2258568"/>
            <a:ext cx="33832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"tok_98afbd12"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457200" y="3008376"/>
            <a:ext cx="8229600" cy="62179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3"/>
          <p:cNvSpPr/>
          <p:nvPr/>
        </p:nvSpPr>
        <p:spPr>
          <a:xfrm>
            <a:off x="457200" y="3008376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1B4B"/>
                </a:solidFill>
                <a:latin typeface="Consolas"/>
                <a:ea typeface="Consolas"/>
                <a:cs typeface="Consolas"/>
                <a:sym typeface="Consolas"/>
              </a:rPr>
              <a:t>price:item42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2651760" y="3008376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0xA1C3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4297680" y="3008376"/>
            <a:ext cx="8229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#4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5303520" y="3008376"/>
            <a:ext cx="33832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29.99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457200" y="3758184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457200" y="3758184"/>
            <a:ext cx="20116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E1B4B"/>
                </a:solidFill>
                <a:latin typeface="Consolas"/>
                <a:ea typeface="Consolas"/>
                <a:cs typeface="Consolas"/>
                <a:sym typeface="Consolas"/>
              </a:rPr>
              <a:t>flag:beta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2651760" y="3758184"/>
            <a:ext cx="14630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0x77F2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4297680" y="3758184"/>
            <a:ext cx="8229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#1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5303520" y="3758184"/>
            <a:ext cx="33832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Physische Speicherung: In-Memory vs. On-Disk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274288" y="1370348"/>
            <a:ext cx="4206300" cy="3098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274288" y="1370348"/>
            <a:ext cx="63900" cy="309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438869" y="146178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In-Memory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411438" y="191898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Daten liegen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vollständig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im RAM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411438" y="242190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Mikrosekunden-Latenz (Sub-ms)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411438" y="292482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Persistenz optional via RDB-Snapshots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411438" y="342774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Ideal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Caching und Sessions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411438" y="393066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Begrenzter Speicher: RAM ist teuer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4663402" y="1370348"/>
            <a:ext cx="4206300" cy="3098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5"/>
          <p:cNvSpPr/>
          <p:nvPr/>
        </p:nvSpPr>
        <p:spPr>
          <a:xfrm>
            <a:off x="4663405" y="1370348"/>
            <a:ext cx="63900" cy="309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4827989" y="146178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On-Disk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4800558" y="191898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Daten auf SSD/HDD (LSM-Tree oder B-Tree)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4800558" y="242190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Millisekunden-Latenz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4800558" y="292482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Persistenz ist garantiert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4800558" y="342774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Ideal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grosse Datenmengen (TB-Bereich)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4800558" y="3930660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Langsamer als In-Memory, aber g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nstiger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Schema-Flexibilit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ä</a:t>
            </a: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t: Schema-less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320040" y="1266390"/>
            <a:ext cx="8503800" cy="210300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7"/>
          <p:cNvSpPr/>
          <p:nvPr/>
        </p:nvSpPr>
        <p:spPr>
          <a:xfrm>
            <a:off x="7726680" y="1266390"/>
            <a:ext cx="1097400" cy="292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7726680" y="1266390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457200" y="1586430"/>
            <a:ext cx="8229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# Dieselbe Datenbank -- </a:t>
            </a:r>
            <a:r>
              <a:rPr lang="en-US" sz="11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völlig</a:t>
            </a: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 unterschiedliche Value-Strukturen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import redis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 = redis.Redis()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r.set("user:1001", '{"name":"Anna","age":29,"premium":true}')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r.set("user:1002", '{"name":"Bob","city":"Berlin"}')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r.set("user:1003", '{"name":"Cara","tags":["admin","beta"]}')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# Kein Schema </a:t>
            </a:r>
            <a:r>
              <a:rPr lang="en-US" sz="11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nötig</a:t>
            </a:r>
            <a:r>
              <a:rPr lang="en-US" sz="110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 -- jeder Value darf anders strukturiert sein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320040" y="3506670"/>
            <a:ext cx="4023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320040" y="3506670"/>
            <a:ext cx="63900" cy="10059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502920" y="357982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Risiko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502920" y="3890718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Schema-less bedeutet: Die Applikation muss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Datenqualität</a:t>
            </a: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selbst sicherstellen. Tippfehler in Keys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führen</a:t>
            </a: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zu stillen Datenverlusten.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4617720" y="3506670"/>
            <a:ext cx="41604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7"/>
          <p:cNvSpPr/>
          <p:nvPr/>
        </p:nvSpPr>
        <p:spPr>
          <a:xfrm>
            <a:off x="4617720" y="350667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4800600" y="3579822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Unterschied zu Document Stores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4800600" y="3890718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MongoDB kann Schema-Validierung erzwingen und auf Felder innerhalb des Dokuments querien. KV-Stores behandeln den Value als Black Box.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Query-Modell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9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Redis-Python-Befehle und Grundoperationen  --  15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Grundoperationen: SET, GET, DELETE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365760" y="9601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SET (Schreiben)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365750" y="1280149"/>
            <a:ext cx="8412600" cy="105150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1"/>
          <p:cNvSpPr/>
          <p:nvPr/>
        </p:nvSpPr>
        <p:spPr>
          <a:xfrm>
            <a:off x="7680960" y="12801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1"/>
          <p:cNvSpPr/>
          <p:nvPr/>
        </p:nvSpPr>
        <p:spPr>
          <a:xfrm>
            <a:off x="7680960" y="12801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502925" y="1280175"/>
            <a:ext cx="69570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import redis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 = redis.Redis(host="localhost", port=6379, decode_responses=True)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r.set("session:user42", '{"lang":"de","theme":"dark"}')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r.set("counter:visits", 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r.set("price:item99", 19.99, ex=3600)  # ex = TTL in Sekunden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365760" y="23317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GET (Lesen)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365760" y="2651760"/>
            <a:ext cx="8412480" cy="96012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1"/>
          <p:cNvSpPr/>
          <p:nvPr/>
        </p:nvSpPr>
        <p:spPr>
          <a:xfrm>
            <a:off x="7680960" y="26517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1"/>
          <p:cNvSpPr/>
          <p:nvPr/>
        </p:nvSpPr>
        <p:spPr>
          <a:xfrm>
            <a:off x="7680960" y="26517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502925" y="2651774"/>
            <a:ext cx="81381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val = r.get("session:user42")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print(val)  # --&gt; '{"lang":"de","theme":"dark"}'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missing = r.get("nonexistent")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print(missing)  # --&gt; None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365760" y="37033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DELETE (L</a:t>
            </a:r>
            <a:r>
              <a:rPr lang="en-US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ö</a:t>
            </a: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schen)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365760" y="4023360"/>
            <a:ext cx="8412480" cy="96012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1"/>
          <p:cNvSpPr/>
          <p:nvPr/>
        </p:nvSpPr>
        <p:spPr>
          <a:xfrm>
            <a:off x="7680960" y="40233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1"/>
          <p:cNvSpPr/>
          <p:nvPr/>
        </p:nvSpPr>
        <p:spPr>
          <a:xfrm>
            <a:off x="7680960" y="40233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502925" y="4023375"/>
            <a:ext cx="81381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deleted = r.delete("session:user42")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print(deleted)  # --&gt; 1 (Anzahl </a:t>
            </a:r>
            <a:r>
              <a:rPr lang="en-US" sz="10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gelöschter</a:t>
            </a: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 Keys)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r.delete("key1", "key2", "key3")  # Mehrere Keys auf einmal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Redis-Datentypen in Python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365760" y="9326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String / Counter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2697480" y="932688"/>
            <a:ext cx="6080760" cy="7132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3"/>
          <p:cNvSpPr/>
          <p:nvPr/>
        </p:nvSpPr>
        <p:spPr>
          <a:xfrm>
            <a:off x="2788920" y="969264"/>
            <a:ext cx="5897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r.set("hits", 42)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r.incr("hits")        # --&gt; 43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r.get("hits")         # --&gt; "43"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3"/>
          <p:cNvSpPr/>
          <p:nvPr/>
        </p:nvSpPr>
        <p:spPr>
          <a:xfrm>
            <a:off x="365760" y="17556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List (Queue/Stack)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2697480" y="1755648"/>
            <a:ext cx="6080760" cy="7132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2788920" y="1792224"/>
            <a:ext cx="5897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r.lpush("queue", "job1", "job2")  	# </a:t>
            </a: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--&gt; </a:t>
            </a: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queue = ["job2", "job1"]  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r.rpop("queue")       		# --&gt; "job1"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r.lrange("queue", 0, -1) 		</a:t>
            </a: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# --&gt; [“job2”]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365760" y="2578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Hash (verschachtelte KV)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2697480" y="2578608"/>
            <a:ext cx="6080760" cy="7132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2788925" y="2615175"/>
            <a:ext cx="613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r.hset("user:1", mapping={"name": "Anna", "city": "Berlin"})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r.hget("user:1", "name")  # --&gt; "Anna"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r.hgetall("user:1")       # --&gt; </a:t>
            </a: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{"name": "Anna", "city": "Berlin"} 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365760" y="34015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Set (Unique Values)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2697480" y="3401568"/>
            <a:ext cx="6080760" cy="71323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3"/>
          <p:cNvSpPr/>
          <p:nvPr/>
        </p:nvSpPr>
        <p:spPr>
          <a:xfrm>
            <a:off x="2788920" y="3438144"/>
            <a:ext cx="58978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r.sadd("tags", "redis", "python", "redis")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r.smembers("tags")    # --&gt; {"redis","python"}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r.sinter("tags", "other_tags")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3"/>
          <p:cNvSpPr/>
          <p:nvPr/>
        </p:nvSpPr>
        <p:spPr>
          <a:xfrm>
            <a:off x="365760" y="42245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Sorted Set (Rankings)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2697475" y="4224525"/>
            <a:ext cx="6080700" cy="7941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3"/>
          <p:cNvSpPr/>
          <p:nvPr/>
        </p:nvSpPr>
        <p:spPr>
          <a:xfrm>
            <a:off x="2788925" y="4261099"/>
            <a:ext cx="58980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r.zadd("scores", {"Anna": 100, "Bob": 85})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r.zrange("scores", 0, -1, withscores=True)              #Bob,85 ; Anna,100</a:t>
            </a:r>
            <a:endParaRPr sz="950" b="0" i="0" u="none" strike="noStrike" cap="none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r.zrange("scores", 0, -1, desc=True, withscores=True)   #Anna,100 ; Bob,85</a:t>
            </a:r>
            <a:endParaRPr sz="95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r.zrank("scores", "Anna")  # --&gt; </a:t>
            </a: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50" b="0" i="0" u="none" strike="noStrike" cap="none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r.zrevrank("scores", "Anna") #--&gt; 0</a:t>
            </a:r>
            <a:endParaRPr sz="95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3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Redis-Python vs. SQL: Denken in Keys statt Tabellen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/>
          <p:nvPr/>
        </p:nvSpPr>
        <p:spPr>
          <a:xfrm>
            <a:off x="320040" y="1005840"/>
            <a:ext cx="40690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35"/>
          <p:cNvSpPr/>
          <p:nvPr/>
        </p:nvSpPr>
        <p:spPr>
          <a:xfrm>
            <a:off x="320040" y="1005840"/>
            <a:ext cx="64008" cy="3931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35"/>
          <p:cNvSpPr/>
          <p:nvPr/>
        </p:nvSpPr>
        <p:spPr>
          <a:xfrm>
            <a:off x="502920" y="10972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SQL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502920" y="1554480"/>
            <a:ext cx="3657600" cy="3017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5"/>
          <p:cNvSpPr/>
          <p:nvPr/>
        </p:nvSpPr>
        <p:spPr>
          <a:xfrm>
            <a:off x="594360" y="1645920"/>
            <a:ext cx="347472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SELECT name, email</a:t>
            </a:r>
            <a:endParaRPr sz="1050" b="0" i="0" u="none" strike="noStrike" cap="non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FROM users</a:t>
            </a:r>
            <a:endParaRPr sz="1050" b="0" i="0" u="none" strike="noStrike" cap="non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WHERE id = 1001;</a:t>
            </a:r>
            <a:endParaRPr sz="1050" b="0" i="0" u="none" strike="noStrike" cap="non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INSERT INTO sessions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(id, token, user_id)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('abc', 'tok123', 1001);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DELETE FROM sessions</a:t>
            </a:r>
            <a:endParaRPr sz="1050" b="0" i="0" u="none" strike="noStrike" cap="none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WHERE id = 'abc';</a:t>
            </a:r>
            <a:endParaRPr sz="1050" b="0" i="0" u="none" strike="noStrike" cap="none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5"/>
          <p:cNvSpPr/>
          <p:nvPr/>
        </p:nvSpPr>
        <p:spPr>
          <a:xfrm>
            <a:off x="4663440" y="1005840"/>
            <a:ext cx="411480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5"/>
          <p:cNvSpPr/>
          <p:nvPr/>
        </p:nvSpPr>
        <p:spPr>
          <a:xfrm>
            <a:off x="4663440" y="1005840"/>
            <a:ext cx="64008" cy="3931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35"/>
          <p:cNvSpPr/>
          <p:nvPr/>
        </p:nvSpPr>
        <p:spPr>
          <a:xfrm>
            <a:off x="4846320" y="1097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Redis-Python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4846320" y="1554480"/>
            <a:ext cx="3749040" cy="3017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5"/>
          <p:cNvSpPr/>
          <p:nvPr/>
        </p:nvSpPr>
        <p:spPr>
          <a:xfrm>
            <a:off x="4937760" y="164592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rPr>
              <a:t>user = r.hgetall("user:1001")</a:t>
            </a:r>
            <a:endParaRPr sz="1050" b="0" i="0" u="none" strike="noStrike" cap="non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# --&gt; {"name":"Anna","email":"a@e.com"}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r.hset("session:abc",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mapping={"token": "tok123",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   "user_id": "1001"})</a:t>
            </a:r>
            <a:endParaRPr sz="105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r.delete("session:abc")</a:t>
            </a:r>
            <a:endParaRPr sz="1050" b="0" i="0" u="none" strike="noStrike" cap="none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Wichtige weitere Redis-Python-Befehle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7"/>
          <p:cNvSpPr/>
          <p:nvPr/>
        </p:nvSpPr>
        <p:spPr>
          <a:xfrm>
            <a:off x="365760" y="960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TTL und Expiry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37"/>
          <p:cNvSpPr/>
          <p:nvPr/>
        </p:nvSpPr>
        <p:spPr>
          <a:xfrm>
            <a:off x="7680960" y="12801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7"/>
          <p:cNvSpPr/>
          <p:nvPr/>
        </p:nvSpPr>
        <p:spPr>
          <a:xfrm>
            <a:off x="7680960" y="12801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502925" y="1300425"/>
            <a:ext cx="8138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r.set("cache:page", "&lt;html&gt;...&lt;/html&gt;", ex=3600)  # 1 Stunde TTL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print(r.ttl("cache:page"))  # --&gt; 3598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r.persist("cache:page")     # TTL entfernen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r.expire("cache:page", 7200)  # Neuen TTL setzen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36576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Multi-Operationen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365760" y="2651760"/>
            <a:ext cx="8412480" cy="91440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7"/>
          <p:cNvSpPr/>
          <p:nvPr/>
        </p:nvSpPr>
        <p:spPr>
          <a:xfrm>
            <a:off x="7680960" y="26517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37"/>
          <p:cNvSpPr/>
          <p:nvPr/>
        </p:nvSpPr>
        <p:spPr>
          <a:xfrm>
            <a:off x="7680960" y="26517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7"/>
          <p:cNvSpPr/>
          <p:nvPr/>
        </p:nvSpPr>
        <p:spPr>
          <a:xfrm>
            <a:off x="502925" y="2651750"/>
            <a:ext cx="8138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r.mset({"k1": "v1", "k2": "v2", "k3": "v3"})  # Atomar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values = r.mget("k1", "k2", "k3")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print(values)  # --&gt; ["v1", "v2", "v3"]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365760" y="37033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Existenz und Pattern-Suche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1E1B4B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7"/>
          <p:cNvSpPr/>
          <p:nvPr/>
        </p:nvSpPr>
        <p:spPr>
          <a:xfrm>
            <a:off x="7680960" y="4023360"/>
            <a:ext cx="1097280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7"/>
          <p:cNvSpPr/>
          <p:nvPr/>
        </p:nvSpPr>
        <p:spPr>
          <a:xfrm>
            <a:off x="7680960" y="402336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7"/>
          <p:cNvSpPr/>
          <p:nvPr/>
        </p:nvSpPr>
        <p:spPr>
          <a:xfrm>
            <a:off x="502925" y="4023350"/>
            <a:ext cx="8138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r.exists("session:abc")  # --&gt; 1 (True) oder 0 (False)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keys = r.keys("user:*")  # Alle User-Keys (Vorsicht: blockiert</a:t>
            </a:r>
            <a:r>
              <a:rPr lang="en-US" sz="105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, langsam bei großen Datenmengen</a:t>
            </a: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for key in r.scan_iter("user:*"):  # Produktionsfreundlich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    print(key)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9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9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Architektur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9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9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Deployment, Replikation, Partitionierung und Tools  --  1</a:t>
            </a: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Single Node vs. Verteiltes System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320040" y="1005840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41"/>
          <p:cNvSpPr/>
          <p:nvPr/>
        </p:nvSpPr>
        <p:spPr>
          <a:xfrm>
            <a:off x="320040" y="1005840"/>
            <a:ext cx="64008" cy="3931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1"/>
          <p:cNvSpPr/>
          <p:nvPr/>
        </p:nvSpPr>
        <p:spPr>
          <a:xfrm>
            <a:off x="484632" y="1097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Single Node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1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 Einfache Einrichtung und Verwaltung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1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 Keine Konsistenz-Probleme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1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  Single Point of Failure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1"/>
          <p:cNvSpPr/>
          <p:nvPr/>
        </p:nvSpPr>
        <p:spPr>
          <a:xfrm>
            <a:off x="457200" y="3291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  Begrenzte </a:t>
            </a:r>
            <a:r>
              <a:rPr lang="en-US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Kapazität</a:t>
            </a:r>
            <a:r>
              <a:rPr lang="en-US" sz="12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(RAM/Disk)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1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Geeignet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Entwicklung, kleine Projekte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1"/>
          <p:cNvSpPr/>
          <p:nvPr/>
        </p:nvSpPr>
        <p:spPr>
          <a:xfrm>
            <a:off x="4709160" y="1005840"/>
            <a:ext cx="42062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41"/>
          <p:cNvSpPr/>
          <p:nvPr/>
        </p:nvSpPr>
        <p:spPr>
          <a:xfrm>
            <a:off x="4709160" y="1005840"/>
            <a:ext cx="64008" cy="393192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41"/>
          <p:cNvSpPr/>
          <p:nvPr/>
        </p:nvSpPr>
        <p:spPr>
          <a:xfrm>
            <a:off x="4873752" y="1097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Verteiltes System (Cluster)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1"/>
          <p:cNvSpPr/>
          <p:nvPr/>
        </p:nvSpPr>
        <p:spPr>
          <a:xfrm>
            <a:off x="4846320" y="16459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 Horizontale Skalierung (Nodes </a:t>
            </a:r>
            <a:r>
              <a:rPr lang="en-US" sz="12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hinzufügen</a:t>
            </a: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1"/>
          <p:cNvSpPr/>
          <p:nvPr/>
        </p:nvSpPr>
        <p:spPr>
          <a:xfrm>
            <a:off x="4846320" y="21945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 </a:t>
            </a:r>
            <a:r>
              <a:rPr lang="en-US" sz="12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Hochverfügbarkeit</a:t>
            </a: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durch Replikation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1"/>
          <p:cNvSpPr/>
          <p:nvPr/>
        </p:nvSpPr>
        <p:spPr>
          <a:xfrm>
            <a:off x="4846320" y="27432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 Partitionierung verteilt Daten und Last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1"/>
          <p:cNvSpPr/>
          <p:nvPr/>
        </p:nvSpPr>
        <p:spPr>
          <a:xfrm>
            <a:off x="4846320" y="32918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  Konsistenz-Tradeoffs (CAP-Theorem)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1"/>
          <p:cNvSpPr/>
          <p:nvPr/>
        </p:nvSpPr>
        <p:spPr>
          <a:xfrm>
            <a:off x="4846320" y="38404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Nötig</a:t>
            </a: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 Produktion mit hohen Anforderungen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Replikation und Partitionierung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320040" y="1005840"/>
            <a:ext cx="40690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3"/>
          <p:cNvSpPr/>
          <p:nvPr/>
        </p:nvSpPr>
        <p:spPr>
          <a:xfrm>
            <a:off x="320040" y="1005840"/>
            <a:ext cx="64008" cy="182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3"/>
          <p:cNvSpPr/>
          <p:nvPr/>
        </p:nvSpPr>
        <p:spPr>
          <a:xfrm>
            <a:off x="502920" y="1078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Replikation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502920" y="14630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Dieselben Daten auf mehreren Nodes: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Primary --&gt; Replica(s) Replikation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Lese-Skalierung via Replicas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Automatischer Failover: Replica wird Primary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Beispiel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tool: 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Redis Sentinel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3"/>
          <p:cNvSpPr/>
          <p:nvPr/>
        </p:nvSpPr>
        <p:spPr>
          <a:xfrm>
            <a:off x="4663440" y="1005840"/>
            <a:ext cx="64008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43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Partitionierung (Sharding)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4846320" y="146304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Verschiedene Daten auf verschiedenen Nodes: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Key-basiertes Sharding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Range Partitioning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Virtual Nodes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gleichm. Verteilung</a:t>
            </a:r>
            <a:endParaRPr sz="1150" b="0" i="0" u="none" strike="noStrike" cap="non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Beispieltool: Dynamo</a:t>
            </a:r>
            <a:endParaRPr sz="11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320040" y="3017520"/>
            <a:ext cx="8503800" cy="109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43"/>
          <p:cNvSpPr/>
          <p:nvPr/>
        </p:nvSpPr>
        <p:spPr>
          <a:xfrm>
            <a:off x="320040" y="3017520"/>
            <a:ext cx="64008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43"/>
          <p:cNvSpPr/>
          <p:nvPr/>
        </p:nvSpPr>
        <p:spPr>
          <a:xfrm>
            <a:off x="502920" y="30906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CAP-Theorem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502920" y="347472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Ein verteiltes System kann maximal 2 von 3 garantieren: Consistency, Availability, Partition Tolerance.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43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Vergleich zu Document Stores: MongoDB nutzt ebenfalls Sharding und Replikation, routet Queries jedoch basierend auf der Dokument-Struktur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nicht nur nach Key-Hash.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4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Open-Source Tools und Cloud-Angebote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5"/>
          <p:cNvSpPr/>
          <p:nvPr/>
        </p:nvSpPr>
        <p:spPr>
          <a:xfrm>
            <a:off x="342890" y="1465315"/>
            <a:ext cx="40692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45"/>
          <p:cNvSpPr/>
          <p:nvPr/>
        </p:nvSpPr>
        <p:spPr>
          <a:xfrm>
            <a:off x="342890" y="1465315"/>
            <a:ext cx="63900" cy="658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45"/>
          <p:cNvSpPr/>
          <p:nvPr/>
        </p:nvSpPr>
        <p:spPr>
          <a:xfrm>
            <a:off x="525770" y="1511035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5"/>
          <p:cNvSpPr/>
          <p:nvPr/>
        </p:nvSpPr>
        <p:spPr>
          <a:xfrm>
            <a:off x="525770" y="178535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In-Memory,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vielfältige</a:t>
            </a: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Datentypen,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De-facto-Standard.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5"/>
          <p:cNvSpPr/>
          <p:nvPr/>
        </p:nvSpPr>
        <p:spPr>
          <a:xfrm>
            <a:off x="342890" y="2242555"/>
            <a:ext cx="40692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45"/>
          <p:cNvSpPr/>
          <p:nvPr/>
        </p:nvSpPr>
        <p:spPr>
          <a:xfrm>
            <a:off x="342890" y="2242555"/>
            <a:ext cx="63900" cy="658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5"/>
          <p:cNvSpPr/>
          <p:nvPr/>
        </p:nvSpPr>
        <p:spPr>
          <a:xfrm>
            <a:off x="525770" y="2288275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Memcached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525770" y="256259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Simpler reiner In-Memory-Cache. Kein Clustering built-in.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342890" y="3019795"/>
            <a:ext cx="40692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5"/>
          <p:cNvSpPr/>
          <p:nvPr/>
        </p:nvSpPr>
        <p:spPr>
          <a:xfrm>
            <a:off x="342890" y="3019795"/>
            <a:ext cx="63900" cy="65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5"/>
          <p:cNvSpPr/>
          <p:nvPr/>
        </p:nvSpPr>
        <p:spPr>
          <a:xfrm>
            <a:off x="525770" y="3065515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RocksDB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525770" y="333983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Embedded KV (LSM-Tree) f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persistente On-Disk-Daten.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4686290" y="1465315"/>
            <a:ext cx="41148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5"/>
          <p:cNvSpPr/>
          <p:nvPr/>
        </p:nvSpPr>
        <p:spPr>
          <a:xfrm>
            <a:off x="4686290" y="1465315"/>
            <a:ext cx="63900" cy="658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45"/>
          <p:cNvSpPr/>
          <p:nvPr/>
        </p:nvSpPr>
        <p:spPr>
          <a:xfrm>
            <a:off x="4869170" y="151103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5"/>
          <p:cNvSpPr/>
          <p:nvPr/>
        </p:nvSpPr>
        <p:spPr>
          <a:xfrm>
            <a:off x="4869170" y="178535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ElastiCache (Redis/Memcached), DynamoDB, DAX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5"/>
          <p:cNvSpPr/>
          <p:nvPr/>
        </p:nvSpPr>
        <p:spPr>
          <a:xfrm>
            <a:off x="4686290" y="2242555"/>
            <a:ext cx="41148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5"/>
          <p:cNvSpPr/>
          <p:nvPr/>
        </p:nvSpPr>
        <p:spPr>
          <a:xfrm>
            <a:off x="4686290" y="2242555"/>
            <a:ext cx="63900" cy="658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45"/>
          <p:cNvSpPr/>
          <p:nvPr/>
        </p:nvSpPr>
        <p:spPr>
          <a:xfrm>
            <a:off x="4869170" y="228827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4869170" y="256259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Azure Cache for Redis, Cosmos DB (KV-API), Table Storage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5"/>
          <p:cNvSpPr/>
          <p:nvPr/>
        </p:nvSpPr>
        <p:spPr>
          <a:xfrm>
            <a:off x="4686290" y="3019795"/>
            <a:ext cx="4114800" cy="65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45"/>
          <p:cNvSpPr/>
          <p:nvPr/>
        </p:nvSpPr>
        <p:spPr>
          <a:xfrm>
            <a:off x="4686290" y="3019795"/>
            <a:ext cx="63900" cy="658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45"/>
          <p:cNvSpPr/>
          <p:nvPr/>
        </p:nvSpPr>
        <p:spPr>
          <a:xfrm>
            <a:off x="4869170" y="3065515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GCP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5"/>
          <p:cNvSpPr/>
          <p:nvPr/>
        </p:nvSpPr>
        <p:spPr>
          <a:xfrm>
            <a:off x="4869170" y="333983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Cloud Memorystore, Firestore, Bigtable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46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EFCE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EFCE8"/>
                </a:solidFill>
                <a:latin typeface="Calibri"/>
                <a:ea typeface="Calibri"/>
                <a:cs typeface="Calibri"/>
                <a:sym typeface="Calibri"/>
              </a:rPr>
              <a:t>Sprechernotizen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6"/>
          <p:cNvSpPr/>
          <p:nvPr/>
        </p:nvSpPr>
        <p:spPr>
          <a:xfrm>
            <a:off x="4114800" y="914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DE68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DE68A"/>
                </a:solidFill>
                <a:latin typeface="Calibri"/>
                <a:ea typeface="Calibri"/>
                <a:cs typeface="Calibri"/>
                <a:sym typeface="Calibri"/>
              </a:rPr>
              <a:t>Open-Source Tools und Cloud-Angebote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6"/>
          <p:cNvSpPr/>
          <p:nvPr/>
        </p:nvSpPr>
        <p:spPr>
          <a:xfrm>
            <a:off x="365760" y="658368"/>
            <a:ext cx="8412480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46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51A03"/>
                </a:solidFill>
                <a:latin typeface="Calibri"/>
                <a:ea typeface="Calibri"/>
                <a:cs typeface="Calibri"/>
                <a:sym typeface="Calibri"/>
              </a:rPr>
              <a:t>Links die drei wichtigsten Open-Source-Tools: Redis (der Standard), Memcached (simpler, reiner Cache), RocksDB (On-Disk fuer grosse Datenmengen).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51A03"/>
                </a:solidFill>
                <a:latin typeface="Calibri"/>
                <a:ea typeface="Calibri"/>
                <a:cs typeface="Calibri"/>
                <a:sym typeface="Calibri"/>
              </a:rPr>
              <a:t>Rechts die Cloud-Angebote der drei grossen Provider. Wichtig: In der Praxis nutzt man oft Managed Services statt selbst betriebener Instanzen.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1A0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51A03"/>
                </a:solidFill>
                <a:latin typeface="Calibri"/>
                <a:ea typeface="Calibri"/>
                <a:cs typeface="Calibri"/>
                <a:sym typeface="Calibri"/>
              </a:rPr>
              <a:t>Hinweis auf die Demo: Wir nutzen redis-py mit einem lokalen Redis-Server. Die Teilnehmer sollen das Package installieren: pip install redis.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7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7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7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Amazon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Dynamo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47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Real-World-Fallstudie (SOSP 2007)  --  </a:t>
            </a: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Amazon Dynamo: Kontext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9"/>
          <p:cNvSpPr/>
          <p:nvPr/>
        </p:nvSpPr>
        <p:spPr>
          <a:xfrm>
            <a:off x="320040" y="1005840"/>
            <a:ext cx="85039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49"/>
          <p:cNvSpPr/>
          <p:nvPr/>
        </p:nvSpPr>
        <p:spPr>
          <a:xfrm>
            <a:off x="320040" y="1005840"/>
            <a:ext cx="64008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49"/>
          <p:cNvSpPr/>
          <p:nvPr/>
        </p:nvSpPr>
        <p:spPr>
          <a:xfrm>
            <a:off x="502920" y="107899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Amazon.com im Jahr 2007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9"/>
          <p:cNvSpPr/>
          <p:nvPr/>
        </p:nvSpPr>
        <p:spPr>
          <a:xfrm>
            <a:off x="502920" y="1463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Weltweit agierendes Unternehmen. Müssen viele Kundenanfragen gleichzeitig verarbeiten.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49"/>
          <p:cNvSpPr/>
          <p:nvPr/>
        </p:nvSpPr>
        <p:spPr>
          <a:xfrm>
            <a:off x="502920" y="2286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Kernanforderung: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2377440" y="228600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Kunden </a:t>
            </a:r>
            <a:r>
              <a:rPr lang="en-US" sz="130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müssen</a:t>
            </a:r>
            <a:r>
              <a:rPr lang="en-US" sz="13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ihren Warenkorb jederzeit nutzen </a:t>
            </a:r>
            <a:r>
              <a:rPr lang="en-US" sz="130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3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-- auch wenn Disks ausfallen, Netzwerke flackern oder ganze Datenzentren </a:t>
            </a:r>
            <a:r>
              <a:rPr lang="en-US" sz="130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zerstört</a:t>
            </a:r>
            <a:r>
              <a:rPr lang="en-US" sz="13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werden.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320040" y="2926080"/>
            <a:ext cx="4160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49"/>
          <p:cNvSpPr/>
          <p:nvPr/>
        </p:nvSpPr>
        <p:spPr>
          <a:xfrm>
            <a:off x="320040" y="2926080"/>
            <a:ext cx="64008" cy="7772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49"/>
          <p:cNvSpPr/>
          <p:nvPr/>
        </p:nvSpPr>
        <p:spPr>
          <a:xfrm>
            <a:off x="502920" y="29992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Hunderte Services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9"/>
          <p:cNvSpPr/>
          <p:nvPr/>
        </p:nvSpPr>
        <p:spPr>
          <a:xfrm>
            <a:off x="502920" y="3337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Dezentral und lose gekoppelt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9"/>
          <p:cNvSpPr/>
          <p:nvPr/>
        </p:nvSpPr>
        <p:spPr>
          <a:xfrm>
            <a:off x="4709160" y="2926080"/>
            <a:ext cx="4160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49"/>
          <p:cNvSpPr/>
          <p:nvPr/>
        </p:nvSpPr>
        <p:spPr>
          <a:xfrm>
            <a:off x="4709160" y="2926080"/>
            <a:ext cx="64008" cy="7772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49"/>
          <p:cNvSpPr/>
          <p:nvPr/>
        </p:nvSpPr>
        <p:spPr>
          <a:xfrm>
            <a:off x="4892040" y="29992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Einfache Queries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9"/>
          <p:cNvSpPr/>
          <p:nvPr/>
        </p:nvSpPr>
        <p:spPr>
          <a:xfrm>
            <a:off x="4892040" y="3337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Primary-Key-Zugriff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nötig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9"/>
          <p:cNvSpPr/>
          <p:nvPr/>
        </p:nvSpPr>
        <p:spPr>
          <a:xfrm>
            <a:off x="320040" y="3840480"/>
            <a:ext cx="4160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49"/>
          <p:cNvSpPr/>
          <p:nvPr/>
        </p:nvSpPr>
        <p:spPr>
          <a:xfrm>
            <a:off x="320040" y="3840480"/>
            <a:ext cx="64008" cy="7772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49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Commodity Hardware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9"/>
          <p:cNvSpPr/>
          <p:nvPr/>
        </p:nvSpPr>
        <p:spPr>
          <a:xfrm>
            <a:off x="502920" y="42519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Keine teuren Enterprise-Server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49"/>
          <p:cNvSpPr/>
          <p:nvPr/>
        </p:nvSpPr>
        <p:spPr>
          <a:xfrm>
            <a:off x="4709160" y="3840480"/>
            <a:ext cx="41605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49"/>
          <p:cNvSpPr/>
          <p:nvPr/>
        </p:nvSpPr>
        <p:spPr>
          <a:xfrm>
            <a:off x="4709160" y="3840480"/>
            <a:ext cx="64008" cy="7772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49"/>
          <p:cNvSpPr/>
          <p:nvPr/>
        </p:nvSpPr>
        <p:spPr>
          <a:xfrm>
            <a:off x="4892040" y="39136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Always-On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9"/>
          <p:cNvSpPr/>
          <p:nvPr/>
        </p:nvSpPr>
        <p:spPr>
          <a:xfrm>
            <a:off x="4892040" y="42519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24/7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Verfügbarkeit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ohne Downtime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5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Design-Prinzipien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1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51"/>
          <p:cNvSpPr/>
          <p:nvPr/>
        </p:nvSpPr>
        <p:spPr>
          <a:xfrm>
            <a:off x="320040" y="1005840"/>
            <a:ext cx="64008" cy="7132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51"/>
          <p:cNvSpPr/>
          <p:nvPr/>
        </p:nvSpPr>
        <p:spPr>
          <a:xfrm>
            <a:off x="502920" y="106070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Always Writeable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51"/>
          <p:cNvSpPr/>
          <p:nvPr/>
        </p:nvSpPr>
        <p:spPr>
          <a:xfrm>
            <a:off x="2926080" y="1060704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Schreiboperationen werden niemals abgelehnt -- auch bei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Verfügbarkeit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hat Vorrang vor Konsistenz.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1"/>
          <p:cNvSpPr/>
          <p:nvPr/>
        </p:nvSpPr>
        <p:spPr>
          <a:xfrm>
            <a:off x="320040" y="1810512"/>
            <a:ext cx="85039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51"/>
          <p:cNvSpPr/>
          <p:nvPr/>
        </p:nvSpPr>
        <p:spPr>
          <a:xfrm>
            <a:off x="320040" y="1810512"/>
            <a:ext cx="64008" cy="71323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51"/>
          <p:cNvSpPr/>
          <p:nvPr/>
        </p:nvSpPr>
        <p:spPr>
          <a:xfrm>
            <a:off x="502920" y="186537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Eventual Consistency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51"/>
          <p:cNvSpPr/>
          <p:nvPr/>
        </p:nvSpPr>
        <p:spPr>
          <a:xfrm>
            <a:off x="2926080" y="1865376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Alle Replicas werden irgendwann konsistent. Konflikte werden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später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aufgelöst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-- nicht beim Schreiben.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51"/>
          <p:cNvSpPr/>
          <p:nvPr/>
        </p:nvSpPr>
        <p:spPr>
          <a:xfrm>
            <a:off x="320040" y="2615184"/>
            <a:ext cx="85039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51"/>
          <p:cNvSpPr/>
          <p:nvPr/>
        </p:nvSpPr>
        <p:spPr>
          <a:xfrm>
            <a:off x="320040" y="2615184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51"/>
          <p:cNvSpPr/>
          <p:nvPr/>
        </p:nvSpPr>
        <p:spPr>
          <a:xfrm>
            <a:off x="502920" y="26700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Dezentralisierung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1"/>
          <p:cNvSpPr/>
          <p:nvPr/>
        </p:nvSpPr>
        <p:spPr>
          <a:xfrm>
            <a:off x="2926080" y="2670048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Keine Master-Knoten. Jeder Node hat dieselben Verantwortlichkeiten (Symmetrie). Kein Single Point of Failure.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51"/>
          <p:cNvSpPr/>
          <p:nvPr/>
        </p:nvSpPr>
        <p:spPr>
          <a:xfrm>
            <a:off x="320040" y="3419856"/>
            <a:ext cx="85039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51"/>
          <p:cNvSpPr/>
          <p:nvPr/>
        </p:nvSpPr>
        <p:spPr>
          <a:xfrm>
            <a:off x="320040" y="3419856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51"/>
          <p:cNvSpPr/>
          <p:nvPr/>
        </p:nvSpPr>
        <p:spPr>
          <a:xfrm>
            <a:off x="502920" y="347472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Inkrementelle Skalierbarkeit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1"/>
          <p:cNvSpPr/>
          <p:nvPr/>
        </p:nvSpPr>
        <p:spPr>
          <a:xfrm>
            <a:off x="2926080" y="347472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Nodes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einzeln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hinzugefügt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oder entfernt werden, ohne den gesamten Cluster zu beeinflussen.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51"/>
          <p:cNvSpPr/>
          <p:nvPr/>
        </p:nvSpPr>
        <p:spPr>
          <a:xfrm>
            <a:off x="320040" y="4224528"/>
            <a:ext cx="85039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51"/>
          <p:cNvSpPr/>
          <p:nvPr/>
        </p:nvSpPr>
        <p:spPr>
          <a:xfrm>
            <a:off x="320040" y="4224528"/>
            <a:ext cx="64008" cy="7132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51"/>
          <p:cNvSpPr/>
          <p:nvPr/>
        </p:nvSpPr>
        <p:spPr>
          <a:xfrm>
            <a:off x="502920" y="42793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Heterogenität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1"/>
          <p:cNvSpPr/>
          <p:nvPr/>
        </p:nvSpPr>
        <p:spPr>
          <a:xfrm>
            <a:off x="2926080" y="4279392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Die Lastverteilung passt sich der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Kapazität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einzelner Server an --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stärkere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Nodes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übernehmen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mehr.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System Interface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5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zwei Operationen -- bewusst minimalistisch: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3"/>
          <p:cNvSpPr/>
          <p:nvPr/>
        </p:nvSpPr>
        <p:spPr>
          <a:xfrm>
            <a:off x="320040" y="1417320"/>
            <a:ext cx="406908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53"/>
          <p:cNvSpPr/>
          <p:nvPr/>
        </p:nvSpPr>
        <p:spPr>
          <a:xfrm>
            <a:off x="320040" y="1417320"/>
            <a:ext cx="64008" cy="123444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53"/>
          <p:cNvSpPr/>
          <p:nvPr/>
        </p:nvSpPr>
        <p:spPr>
          <a:xfrm>
            <a:off x="502920" y="14904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312E81"/>
                </a:solidFill>
                <a:latin typeface="Consolas"/>
                <a:ea typeface="Consolas"/>
                <a:cs typeface="Consolas"/>
                <a:sym typeface="Consolas"/>
              </a:rPr>
              <a:t>get(key)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3"/>
          <p:cNvSpPr/>
          <p:nvPr/>
        </p:nvSpPr>
        <p:spPr>
          <a:xfrm>
            <a:off x="502920" y="18745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Gibt ein Objekt (oder mehrere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konfliktäre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Versionen) plus einen Context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zurück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3"/>
          <p:cNvSpPr/>
          <p:nvPr/>
        </p:nvSpPr>
        <p:spPr>
          <a:xfrm>
            <a:off x="4663440" y="1417320"/>
            <a:ext cx="41148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53"/>
          <p:cNvSpPr/>
          <p:nvPr/>
        </p:nvSpPr>
        <p:spPr>
          <a:xfrm>
            <a:off x="4663440" y="1417320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53"/>
          <p:cNvSpPr/>
          <p:nvPr/>
        </p:nvSpPr>
        <p:spPr>
          <a:xfrm>
            <a:off x="4846320" y="14904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600"/>
              <a:buFont typeface="Consolas"/>
              <a:buNone/>
            </a:pPr>
            <a:r>
              <a:rPr lang="en-US" sz="1600" b="1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put(key, context, object)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3"/>
          <p:cNvSpPr/>
          <p:nvPr/>
        </p:nvSpPr>
        <p:spPr>
          <a:xfrm>
            <a:off x="4846320" y="187452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Schreibt das Objekt auf die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zuständigen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Nodes.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Context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enthält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Versions Informationen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3"/>
          <p:cNvSpPr/>
          <p:nvPr/>
        </p:nvSpPr>
        <p:spPr>
          <a:xfrm>
            <a:off x="320040" y="2834640"/>
            <a:ext cx="416052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53"/>
          <p:cNvSpPr/>
          <p:nvPr/>
        </p:nvSpPr>
        <p:spPr>
          <a:xfrm>
            <a:off x="320040" y="2834640"/>
            <a:ext cx="64008" cy="89611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53"/>
          <p:cNvSpPr/>
          <p:nvPr/>
        </p:nvSpPr>
        <p:spPr>
          <a:xfrm>
            <a:off x="502920" y="29260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Opake Byte-Arrays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3"/>
          <p:cNvSpPr/>
          <p:nvPr/>
        </p:nvSpPr>
        <p:spPr>
          <a:xfrm>
            <a:off x="502920" y="3291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und Value werden nicht interpretiert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3"/>
          <p:cNvSpPr/>
          <p:nvPr/>
        </p:nvSpPr>
        <p:spPr>
          <a:xfrm>
            <a:off x="4709160" y="2834640"/>
            <a:ext cx="416052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53"/>
          <p:cNvSpPr/>
          <p:nvPr/>
        </p:nvSpPr>
        <p:spPr>
          <a:xfrm>
            <a:off x="4709160" y="2834640"/>
            <a:ext cx="64008" cy="8961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53"/>
          <p:cNvSpPr/>
          <p:nvPr/>
        </p:nvSpPr>
        <p:spPr>
          <a:xfrm>
            <a:off x="4892040" y="29260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MD5-Hashing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3"/>
          <p:cNvSpPr/>
          <p:nvPr/>
        </p:nvSpPr>
        <p:spPr>
          <a:xfrm>
            <a:off x="4892040" y="3291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128-Bit-Identifier zur Node-Zuordnung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3"/>
          <p:cNvSpPr/>
          <p:nvPr/>
        </p:nvSpPr>
        <p:spPr>
          <a:xfrm>
            <a:off x="320040" y="3886200"/>
            <a:ext cx="416052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53"/>
          <p:cNvSpPr/>
          <p:nvPr/>
        </p:nvSpPr>
        <p:spPr>
          <a:xfrm>
            <a:off x="320040" y="3886200"/>
            <a:ext cx="64008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53"/>
          <p:cNvSpPr/>
          <p:nvPr/>
        </p:nvSpPr>
        <p:spPr>
          <a:xfrm>
            <a:off x="502920" y="3977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Kleine Objekte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53"/>
          <p:cNvSpPr/>
          <p:nvPr/>
        </p:nvSpPr>
        <p:spPr>
          <a:xfrm>
            <a:off x="502920" y="4343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Typisch &lt; 1 MB (Warenkorb, Sessions)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3"/>
          <p:cNvSpPr/>
          <p:nvPr/>
        </p:nvSpPr>
        <p:spPr>
          <a:xfrm>
            <a:off x="4709160" y="3886200"/>
            <a:ext cx="416052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53"/>
          <p:cNvSpPr/>
          <p:nvPr/>
        </p:nvSpPr>
        <p:spPr>
          <a:xfrm>
            <a:off x="4709160" y="3886200"/>
            <a:ext cx="64008" cy="89611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53"/>
          <p:cNvSpPr/>
          <p:nvPr/>
        </p:nvSpPr>
        <p:spPr>
          <a:xfrm>
            <a:off x="4892040" y="39776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Kein ACID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3"/>
          <p:cNvSpPr/>
          <p:nvPr/>
        </p:nvSpPr>
        <p:spPr>
          <a:xfrm>
            <a:off x="4892040" y="4343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Konsistenz bewusst aufgeweicht fuer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5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5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Consistent Hashing und Virtual Nodes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55"/>
          <p:cNvSpPr/>
          <p:nvPr/>
        </p:nvSpPr>
        <p:spPr>
          <a:xfrm>
            <a:off x="320040" y="1005840"/>
            <a:ext cx="40690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55"/>
          <p:cNvSpPr/>
          <p:nvPr/>
        </p:nvSpPr>
        <p:spPr>
          <a:xfrm>
            <a:off x="320040" y="1005840"/>
            <a:ext cx="64008" cy="38404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55"/>
          <p:cNvSpPr/>
          <p:nvPr/>
        </p:nvSpPr>
        <p:spPr>
          <a:xfrm>
            <a:off x="502920" y="1078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Consistent Hashing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55"/>
          <p:cNvSpPr/>
          <p:nvPr/>
        </p:nvSpPr>
        <p:spPr>
          <a:xfrm>
            <a:off x="502920" y="146304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Der Hashraum wird als Ring (Kreis) modelliert. Jeder Node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erhält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eine Position auf dem Ring. Ein Key wird gehasht und dem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nächsten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Node im Uhrzeigersinn zugeordnet.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5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55"/>
          <p:cNvSpPr/>
          <p:nvPr/>
        </p:nvSpPr>
        <p:spPr>
          <a:xfrm>
            <a:off x="4663440" y="1005840"/>
            <a:ext cx="64008" cy="3840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55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Virtual Nodes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4846308" y="1220740"/>
            <a:ext cx="3749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Zufällige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Positionen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führen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zu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ungleichmäßiger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Lastverteilung.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Lösung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Jeder physische Node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erhält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mehrere Positionen (Tokens) auf dem Ring. Ein physischer Node erscheint als mehrere virtuelle Nodes.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Vorteile: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Gleichmäßige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Lastverteilung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Bei Ausfall wird Last verteilt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St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rkere Nodes: mehr Virtual Nodes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Heterogenität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wird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berücksichtigt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0" name="Google Shape;980;p55"/>
          <p:cNvGrpSpPr/>
          <p:nvPr/>
        </p:nvGrpSpPr>
        <p:grpSpPr>
          <a:xfrm>
            <a:off x="1272455" y="2633381"/>
            <a:ext cx="1924566" cy="1995443"/>
            <a:chOff x="4383950" y="1033825"/>
            <a:chExt cx="3567975" cy="3699375"/>
          </a:xfrm>
        </p:grpSpPr>
        <p:sp>
          <p:nvSpPr>
            <p:cNvPr id="981" name="Google Shape;981;p55"/>
            <p:cNvSpPr/>
            <p:nvPr/>
          </p:nvSpPr>
          <p:spPr>
            <a:xfrm>
              <a:off x="4508825" y="1290100"/>
              <a:ext cx="3443100" cy="3443100"/>
            </a:xfrm>
            <a:prstGeom prst="ellipse">
              <a:avLst/>
            </a:prstGeom>
            <a:solidFill>
              <a:schemeClr val="lt2"/>
            </a:solidFill>
            <a:ln w="51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300" tIns="49300" rIns="49300" bIns="49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55"/>
            </a:p>
          </p:txBody>
        </p:sp>
        <p:sp>
          <p:nvSpPr>
            <p:cNvPr id="982" name="Google Shape;982;p55"/>
            <p:cNvSpPr/>
            <p:nvPr/>
          </p:nvSpPr>
          <p:spPr>
            <a:xfrm>
              <a:off x="5933225" y="1033825"/>
              <a:ext cx="594300" cy="594300"/>
            </a:xfrm>
            <a:prstGeom prst="ellipse">
              <a:avLst/>
            </a:prstGeom>
            <a:solidFill>
              <a:srgbClr val="059669"/>
            </a:solidFill>
            <a:ln w="51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300" tIns="49300" rIns="49300" bIns="49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5"/>
                <a:t>A</a:t>
              </a:r>
              <a:endParaRPr sz="755"/>
            </a:p>
          </p:txBody>
        </p:sp>
        <p:sp>
          <p:nvSpPr>
            <p:cNvPr id="983" name="Google Shape;983;p55"/>
            <p:cNvSpPr/>
            <p:nvPr/>
          </p:nvSpPr>
          <p:spPr>
            <a:xfrm>
              <a:off x="730740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51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300" tIns="49300" rIns="49300" bIns="49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5"/>
                <a:t>B</a:t>
              </a:r>
              <a:endParaRPr sz="755"/>
            </a:p>
          </p:txBody>
        </p:sp>
        <p:sp>
          <p:nvSpPr>
            <p:cNvPr id="984" name="Google Shape;984;p55"/>
            <p:cNvSpPr/>
            <p:nvPr/>
          </p:nvSpPr>
          <p:spPr>
            <a:xfrm>
              <a:off x="438395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51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300" tIns="49300" rIns="49300" bIns="49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5"/>
                <a:t>C</a:t>
              </a:r>
              <a:endParaRPr sz="755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e28b82767f_2_22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g3e28b82767f_2_226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Klassisches </a:t>
            </a:r>
            <a:r>
              <a:rPr lang="en-US"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Hashing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2" name="Google Shape;1002;g3e28b82767f_2_226"/>
          <p:cNvGrpSpPr/>
          <p:nvPr/>
        </p:nvGrpSpPr>
        <p:grpSpPr>
          <a:xfrm>
            <a:off x="457200" y="1002775"/>
            <a:ext cx="2405400" cy="668700"/>
            <a:chOff x="320050" y="1005850"/>
            <a:chExt cx="2405400" cy="668700"/>
          </a:xfrm>
        </p:grpSpPr>
        <p:grpSp>
          <p:nvGrpSpPr>
            <p:cNvPr id="1003" name="Google Shape;1003;g3e28b82767f_2_226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04" name="Google Shape;1004;g3e28b82767f_2_226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g3e28b82767f_2_226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E11D4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Beispiel</a:t>
                </a:r>
                <a:endParaRPr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g3e28b82767f_2_226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 Pairs, 3 Server (A,B,C)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7" name="Google Shape;1007;g3e28b82767f_2_226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g3e28b82767f_2_226"/>
          <p:cNvGrpSpPr/>
          <p:nvPr/>
        </p:nvGrpSpPr>
        <p:grpSpPr>
          <a:xfrm>
            <a:off x="457200" y="1784500"/>
            <a:ext cx="2405400" cy="668700"/>
            <a:chOff x="320050" y="1005850"/>
            <a:chExt cx="2405400" cy="668700"/>
          </a:xfrm>
        </p:grpSpPr>
        <p:grpSp>
          <p:nvGrpSpPr>
            <p:cNvPr id="1009" name="Google Shape;1009;g3e28b82767f_2_226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10" name="Google Shape;1010;g3e28b82767f_2_226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g3e28b82767f_2_226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Klassisches Hashing</a:t>
                </a:r>
                <a:endParaRPr sz="1600" b="0" i="0" u="none" strike="noStrike" cap="non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g3e28b82767f_2_226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Node: hash(key) mod 3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13" name="Google Shape;1013;g3e28b82767f_2_226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014" name="Google Shape;1014;g3e28b82767f_2_226"/>
          <p:cNvGraphicFramePr/>
          <p:nvPr/>
        </p:nvGraphicFramePr>
        <p:xfrm>
          <a:off x="3916275" y="9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7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8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15" name="Google Shape;1015;g3e28b82767f_2_226"/>
          <p:cNvGraphicFramePr/>
          <p:nvPr/>
        </p:nvGraphicFramePr>
        <p:xfrm>
          <a:off x="6866625" y="9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4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5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A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6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B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7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C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8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9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A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10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B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11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C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12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16" name="Google Shape;1016;g3e28b82767f_2_226"/>
          <p:cNvSpPr/>
          <p:nvPr/>
        </p:nvSpPr>
        <p:spPr>
          <a:xfrm>
            <a:off x="5774550" y="2566225"/>
            <a:ext cx="595200" cy="3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7" name="Google Shape;1017;g3e28b82767f_2_226"/>
          <p:cNvGrpSpPr/>
          <p:nvPr/>
        </p:nvGrpSpPr>
        <p:grpSpPr>
          <a:xfrm>
            <a:off x="457200" y="2566225"/>
            <a:ext cx="2405400" cy="668700"/>
            <a:chOff x="320050" y="1005850"/>
            <a:chExt cx="2405400" cy="668700"/>
          </a:xfrm>
        </p:grpSpPr>
        <p:grpSp>
          <p:nvGrpSpPr>
            <p:cNvPr id="1018" name="Google Shape;1018;g3e28b82767f_2_226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19" name="Google Shape;1019;g3e28b82767f_2_226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g3e28b82767f_2_226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Neuer Node</a:t>
                </a:r>
                <a:endParaRPr sz="1600" b="0" i="0" u="none" strike="noStrike" cap="non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g3e28b82767f_2_226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Node: hash(key) mod 4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2" name="Google Shape;1022;g3e28b82767f_2_226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e28b82767f_2_25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g3e28b82767f_2_253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</a:t>
            </a:r>
            <a:r>
              <a:rPr lang="en-US"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Consistent Hashing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0" name="Google Shape;1030;g3e28b82767f_2_253"/>
          <p:cNvGrpSpPr/>
          <p:nvPr/>
        </p:nvGrpSpPr>
        <p:grpSpPr>
          <a:xfrm>
            <a:off x="3464873" y="1033825"/>
            <a:ext cx="3567975" cy="3699375"/>
            <a:chOff x="4383950" y="1033825"/>
            <a:chExt cx="3567975" cy="3699375"/>
          </a:xfrm>
        </p:grpSpPr>
        <p:sp>
          <p:nvSpPr>
            <p:cNvPr id="1031" name="Google Shape;1031;g3e28b82767f_2_253"/>
            <p:cNvSpPr/>
            <p:nvPr/>
          </p:nvSpPr>
          <p:spPr>
            <a:xfrm>
              <a:off x="4508825" y="1290100"/>
              <a:ext cx="3443100" cy="34431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g3e28b82767f_2_253"/>
            <p:cNvSpPr/>
            <p:nvPr/>
          </p:nvSpPr>
          <p:spPr>
            <a:xfrm>
              <a:off x="5933225" y="103382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A</a:t>
              </a:r>
              <a:endParaRPr/>
            </a:p>
          </p:txBody>
        </p:sp>
        <p:sp>
          <p:nvSpPr>
            <p:cNvPr id="1033" name="Google Shape;1033;g3e28b82767f_2_253"/>
            <p:cNvSpPr/>
            <p:nvPr/>
          </p:nvSpPr>
          <p:spPr>
            <a:xfrm>
              <a:off x="730740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B</a:t>
              </a:r>
              <a:endParaRPr/>
            </a:p>
          </p:txBody>
        </p:sp>
        <p:sp>
          <p:nvSpPr>
            <p:cNvPr id="1034" name="Google Shape;1034;g3e28b82767f_2_253"/>
            <p:cNvSpPr/>
            <p:nvPr/>
          </p:nvSpPr>
          <p:spPr>
            <a:xfrm>
              <a:off x="438395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C</a:t>
              </a:r>
              <a:endParaRPr/>
            </a:p>
          </p:txBody>
        </p:sp>
      </p:grpSp>
      <p:grpSp>
        <p:nvGrpSpPr>
          <p:cNvPr id="1035" name="Google Shape;1035;g3e28b82767f_2_253"/>
          <p:cNvGrpSpPr/>
          <p:nvPr/>
        </p:nvGrpSpPr>
        <p:grpSpPr>
          <a:xfrm>
            <a:off x="457200" y="1033825"/>
            <a:ext cx="2405400" cy="668700"/>
            <a:chOff x="320050" y="1005850"/>
            <a:chExt cx="2405400" cy="668700"/>
          </a:xfrm>
        </p:grpSpPr>
        <p:grpSp>
          <p:nvGrpSpPr>
            <p:cNvPr id="1036" name="Google Shape;1036;g3e28b82767f_2_253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37" name="Google Shape;1037;g3e28b82767f_2_253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g3e28b82767f_2_253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E11D4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Beispiel</a:t>
                </a:r>
                <a:endParaRPr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g3e28b82767f_2_253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 Pairs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0" name="Google Shape;1040;g3e28b82767f_2_253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041" name="Google Shape;1041;g3e28b82767f_2_253"/>
          <p:cNvGraphicFramePr/>
          <p:nvPr/>
        </p:nvGraphicFramePr>
        <p:xfrm>
          <a:off x="457188" y="342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120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Node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Positionen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(4)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1-4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 (8)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5-8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 (12)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9-12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42" name="Google Shape;1042;g3e28b82767f_2_253"/>
          <p:cNvGrpSpPr/>
          <p:nvPr/>
        </p:nvGrpSpPr>
        <p:grpSpPr>
          <a:xfrm>
            <a:off x="457200" y="1867550"/>
            <a:ext cx="2405400" cy="668700"/>
            <a:chOff x="320050" y="1005850"/>
            <a:chExt cx="2405400" cy="668700"/>
          </a:xfrm>
        </p:grpSpPr>
        <p:grpSp>
          <p:nvGrpSpPr>
            <p:cNvPr id="1043" name="Google Shape;1043;g3e28b82767f_2_253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44" name="Google Shape;1044;g3e28b82767f_2_253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g3e28b82767f_2_253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Consistent hashing</a:t>
                </a:r>
                <a:endParaRPr sz="1600" b="0" i="0" u="none" strike="noStrike" cap="non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g3e28b82767f_2_253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Node: Bereich auf dem Ring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7" name="Google Shape;1047;g3e28b82767f_2_253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g3e28b82767f_2_253"/>
          <p:cNvSpPr txBox="1"/>
          <p:nvPr/>
        </p:nvSpPr>
        <p:spPr>
          <a:xfrm>
            <a:off x="5049160" y="1530825"/>
            <a:ext cx="5103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049" name="Google Shape;1049;g3e28b82767f_2_253"/>
          <p:cNvSpPr txBox="1"/>
          <p:nvPr/>
        </p:nvSpPr>
        <p:spPr>
          <a:xfrm>
            <a:off x="6451710" y="4187000"/>
            <a:ext cx="5103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1050" name="Google Shape;1050;g3e28b82767f_2_253"/>
          <p:cNvSpPr txBox="1"/>
          <p:nvPr/>
        </p:nvSpPr>
        <p:spPr>
          <a:xfrm>
            <a:off x="3517010" y="4237350"/>
            <a:ext cx="5103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/>
          </a:p>
        </p:txBody>
      </p:sp>
      <p:graphicFrame>
        <p:nvGraphicFramePr>
          <p:cNvPr id="1051" name="Google Shape;1051;g3e28b82767f_2_253"/>
          <p:cNvGraphicFramePr/>
          <p:nvPr/>
        </p:nvGraphicFramePr>
        <p:xfrm>
          <a:off x="7409058" y="978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7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8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e28b82767f_2_28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g3e28b82767f_2_280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</a:t>
            </a:r>
            <a:r>
              <a:rPr lang="en-US"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Consistent Hashing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9" name="Google Shape;1059;g3e28b82767f_2_280"/>
          <p:cNvGrpSpPr/>
          <p:nvPr/>
        </p:nvGrpSpPr>
        <p:grpSpPr>
          <a:xfrm>
            <a:off x="457200" y="1033825"/>
            <a:ext cx="2405400" cy="668700"/>
            <a:chOff x="320050" y="1005850"/>
            <a:chExt cx="2405400" cy="668700"/>
          </a:xfrm>
        </p:grpSpPr>
        <p:grpSp>
          <p:nvGrpSpPr>
            <p:cNvPr id="1060" name="Google Shape;1060;g3e28b82767f_2_280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61" name="Google Shape;1061;g3e28b82767f_2_280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g3e28b82767f_2_280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E11D4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Beispiel</a:t>
                </a:r>
                <a:endParaRPr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g3e28b82767f_2_280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 Pairs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4" name="Google Shape;1064;g3e28b82767f_2_280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5" name="Google Shape;1065;g3e28b82767f_2_280"/>
          <p:cNvGrpSpPr/>
          <p:nvPr/>
        </p:nvGrpSpPr>
        <p:grpSpPr>
          <a:xfrm>
            <a:off x="457200" y="1867550"/>
            <a:ext cx="2405400" cy="668700"/>
            <a:chOff x="320050" y="1005850"/>
            <a:chExt cx="2405400" cy="668700"/>
          </a:xfrm>
        </p:grpSpPr>
        <p:grpSp>
          <p:nvGrpSpPr>
            <p:cNvPr id="1066" name="Google Shape;1066;g3e28b82767f_2_280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67" name="Google Shape;1067;g3e28b82767f_2_280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g3e28b82767f_2_280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Consistent hashing</a:t>
                </a:r>
                <a:endParaRPr sz="1600" b="0" i="0" u="none" strike="noStrike" cap="non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g3e28b82767f_2_280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Node: Bereich auf dem Ring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0" name="Google Shape;1070;g3e28b82767f_2_280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1" name="Google Shape;1071;g3e28b82767f_2_280"/>
          <p:cNvGrpSpPr/>
          <p:nvPr/>
        </p:nvGrpSpPr>
        <p:grpSpPr>
          <a:xfrm>
            <a:off x="457200" y="2646270"/>
            <a:ext cx="2405400" cy="668700"/>
            <a:chOff x="320050" y="1005850"/>
            <a:chExt cx="2405400" cy="668700"/>
          </a:xfrm>
        </p:grpSpPr>
        <p:grpSp>
          <p:nvGrpSpPr>
            <p:cNvPr id="1072" name="Google Shape;1072;g3e28b82767f_2_280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073" name="Google Shape;1073;g3e28b82767f_2_280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g3e28b82767f_2_280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Neuer Node</a:t>
                </a:r>
                <a:endParaRPr sz="1600" b="0" i="0" u="none" strike="noStrike" cap="non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g3e28b82767f_2_280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Stelle 10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6" name="Google Shape;1076;g3e28b82767f_2_280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7" name="Google Shape;1077;g3e28b82767f_2_280"/>
          <p:cNvGrpSpPr/>
          <p:nvPr/>
        </p:nvGrpSpPr>
        <p:grpSpPr>
          <a:xfrm>
            <a:off x="3465576" y="1033825"/>
            <a:ext cx="3567975" cy="3980425"/>
            <a:chOff x="3969138" y="1033825"/>
            <a:chExt cx="3567975" cy="3980425"/>
          </a:xfrm>
        </p:grpSpPr>
        <p:grpSp>
          <p:nvGrpSpPr>
            <p:cNvPr id="1078" name="Google Shape;1078;g3e28b82767f_2_280"/>
            <p:cNvGrpSpPr/>
            <p:nvPr/>
          </p:nvGrpSpPr>
          <p:grpSpPr>
            <a:xfrm>
              <a:off x="3969138" y="1033825"/>
              <a:ext cx="3567975" cy="3699375"/>
              <a:chOff x="4383950" y="1033825"/>
              <a:chExt cx="3567975" cy="3699375"/>
            </a:xfrm>
          </p:grpSpPr>
          <p:sp>
            <p:nvSpPr>
              <p:cNvPr id="1079" name="Google Shape;1079;g3e28b82767f_2_280"/>
              <p:cNvSpPr/>
              <p:nvPr/>
            </p:nvSpPr>
            <p:spPr>
              <a:xfrm>
                <a:off x="4508825" y="1290100"/>
                <a:ext cx="3443100" cy="34431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g3e28b82767f_2_280"/>
              <p:cNvSpPr/>
              <p:nvPr/>
            </p:nvSpPr>
            <p:spPr>
              <a:xfrm>
                <a:off x="5933225" y="1033825"/>
                <a:ext cx="594300" cy="594300"/>
              </a:xfrm>
              <a:prstGeom prst="ellipse">
                <a:avLst/>
              </a:prstGeom>
              <a:solidFill>
                <a:srgbClr val="05966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/>
                  <a:t>A</a:t>
                </a:r>
                <a:endParaRPr/>
              </a:p>
            </p:txBody>
          </p:sp>
          <p:sp>
            <p:nvSpPr>
              <p:cNvPr id="1081" name="Google Shape;1081;g3e28b82767f_2_280"/>
              <p:cNvSpPr/>
              <p:nvPr/>
            </p:nvSpPr>
            <p:spPr>
              <a:xfrm>
                <a:off x="7307400" y="3604175"/>
                <a:ext cx="594300" cy="594300"/>
              </a:xfrm>
              <a:prstGeom prst="ellipse">
                <a:avLst/>
              </a:prstGeom>
              <a:solidFill>
                <a:srgbClr val="05966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/>
                  <a:t>B</a:t>
                </a:r>
                <a:endParaRPr/>
              </a:p>
            </p:txBody>
          </p:sp>
          <p:sp>
            <p:nvSpPr>
              <p:cNvPr id="1082" name="Google Shape;1082;g3e28b82767f_2_280"/>
              <p:cNvSpPr/>
              <p:nvPr/>
            </p:nvSpPr>
            <p:spPr>
              <a:xfrm>
                <a:off x="4383950" y="3604175"/>
                <a:ext cx="594300" cy="594300"/>
              </a:xfrm>
              <a:prstGeom prst="ellipse">
                <a:avLst/>
              </a:prstGeom>
              <a:solidFill>
                <a:srgbClr val="05966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/>
                  <a:t>C</a:t>
                </a:r>
                <a:endParaRPr/>
              </a:p>
            </p:txBody>
          </p:sp>
        </p:grpSp>
        <p:sp>
          <p:nvSpPr>
            <p:cNvPr id="1083" name="Google Shape;1083;g3e28b82767f_2_280"/>
            <p:cNvSpPr txBox="1"/>
            <p:nvPr/>
          </p:nvSpPr>
          <p:spPr>
            <a:xfrm>
              <a:off x="5553425" y="1530825"/>
              <a:ext cx="510300" cy="27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4</a:t>
              </a:r>
              <a:endParaRPr/>
            </a:p>
          </p:txBody>
        </p:sp>
        <p:sp>
          <p:nvSpPr>
            <p:cNvPr id="1084" name="Google Shape;1084;g3e28b82767f_2_280"/>
            <p:cNvSpPr txBox="1"/>
            <p:nvPr/>
          </p:nvSpPr>
          <p:spPr>
            <a:xfrm>
              <a:off x="6955975" y="4187000"/>
              <a:ext cx="510300" cy="27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8</a:t>
              </a:r>
              <a:endParaRPr/>
            </a:p>
          </p:txBody>
        </p:sp>
        <p:sp>
          <p:nvSpPr>
            <p:cNvPr id="1085" name="Google Shape;1085;g3e28b82767f_2_280"/>
            <p:cNvSpPr txBox="1"/>
            <p:nvPr/>
          </p:nvSpPr>
          <p:spPr>
            <a:xfrm>
              <a:off x="4021275" y="4237350"/>
              <a:ext cx="510300" cy="27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12</a:t>
              </a:r>
              <a:endParaRPr/>
            </a:p>
          </p:txBody>
        </p:sp>
        <p:sp>
          <p:nvSpPr>
            <p:cNvPr id="1086" name="Google Shape;1086;g3e28b82767f_2_280"/>
            <p:cNvSpPr/>
            <p:nvPr/>
          </p:nvSpPr>
          <p:spPr>
            <a:xfrm>
              <a:off x="5531379" y="4419950"/>
              <a:ext cx="594300" cy="594300"/>
            </a:xfrm>
            <a:prstGeom prst="ellipse">
              <a:avLst/>
            </a:prstGeom>
            <a:solidFill>
              <a:srgbClr val="0284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D</a:t>
              </a:r>
              <a:endParaRPr/>
            </a:p>
          </p:txBody>
        </p:sp>
        <p:sp>
          <p:nvSpPr>
            <p:cNvPr id="1087" name="Google Shape;1087;g3e28b82767f_2_280"/>
            <p:cNvSpPr txBox="1"/>
            <p:nvPr/>
          </p:nvSpPr>
          <p:spPr>
            <a:xfrm>
              <a:off x="5573375" y="4092775"/>
              <a:ext cx="510300" cy="27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10</a:t>
              </a:r>
              <a:endParaRPr/>
            </a:p>
          </p:txBody>
        </p:sp>
      </p:grpSp>
      <p:graphicFrame>
        <p:nvGraphicFramePr>
          <p:cNvPr id="1088" name="Google Shape;1088;g3e28b82767f_2_280"/>
          <p:cNvGraphicFramePr/>
          <p:nvPr/>
        </p:nvGraphicFramePr>
        <p:xfrm>
          <a:off x="457200" y="342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120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Node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Positionen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 (4)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1-4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B (8)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5-8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 (12)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11-12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D (10)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9-10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89" name="Google Shape;1089;g3e28b82767f_2_280"/>
          <p:cNvGraphicFramePr/>
          <p:nvPr/>
        </p:nvGraphicFramePr>
        <p:xfrm>
          <a:off x="7406640" y="9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A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5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7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8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10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11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C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12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C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e28b82767f_2_31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g3e28b82767f_2_315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</a:t>
            </a:r>
            <a:r>
              <a:rPr lang="en-US"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Consistent Hashing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7" name="Google Shape;1097;g3e28b82767f_2_315"/>
          <p:cNvGraphicFramePr/>
          <p:nvPr/>
        </p:nvGraphicFramePr>
        <p:xfrm>
          <a:off x="3916275" y="9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4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5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6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7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8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B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9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10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C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98" name="Google Shape;1098;g3e28b82767f_2_315"/>
          <p:cNvGraphicFramePr/>
          <p:nvPr/>
        </p:nvGraphicFramePr>
        <p:xfrm>
          <a:off x="6866625" y="97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77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hash(key)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Server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1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2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3</a:t>
                      </a: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A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A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5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7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8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B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9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10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</a:rPr>
                        <a:t>D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11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C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12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C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99" name="Google Shape;1099;g3e28b82767f_2_315"/>
          <p:cNvSpPr/>
          <p:nvPr/>
        </p:nvSpPr>
        <p:spPr>
          <a:xfrm>
            <a:off x="5774550" y="2566225"/>
            <a:ext cx="595200" cy="33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0" name="Google Shape;1100;g3e28b82767f_2_315"/>
          <p:cNvGrpSpPr/>
          <p:nvPr/>
        </p:nvGrpSpPr>
        <p:grpSpPr>
          <a:xfrm>
            <a:off x="457200" y="1033825"/>
            <a:ext cx="2405400" cy="668700"/>
            <a:chOff x="320050" y="1005850"/>
            <a:chExt cx="2405400" cy="668700"/>
          </a:xfrm>
        </p:grpSpPr>
        <p:grpSp>
          <p:nvGrpSpPr>
            <p:cNvPr id="1101" name="Google Shape;1101;g3e28b82767f_2_315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102" name="Google Shape;1102;g3e28b82767f_2_315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g3e28b82767f_2_315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E11D4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Beispiel</a:t>
                </a:r>
                <a:endParaRPr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g3e28b82767f_2_315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12 Pairs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5" name="Google Shape;1105;g3e28b82767f_2_315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" name="Google Shape;1106;g3e28b82767f_2_315"/>
          <p:cNvGrpSpPr/>
          <p:nvPr/>
        </p:nvGrpSpPr>
        <p:grpSpPr>
          <a:xfrm>
            <a:off x="457200" y="1867550"/>
            <a:ext cx="2405400" cy="668700"/>
            <a:chOff x="320050" y="1005850"/>
            <a:chExt cx="2405400" cy="668700"/>
          </a:xfrm>
        </p:grpSpPr>
        <p:grpSp>
          <p:nvGrpSpPr>
            <p:cNvPr id="1107" name="Google Shape;1107;g3e28b82767f_2_315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108" name="Google Shape;1108;g3e28b82767f_2_315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g3e28b82767f_2_315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Consistent hashing</a:t>
                </a:r>
                <a:endParaRPr sz="1600" b="0" i="0" u="none" strike="noStrike" cap="non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g3e28b82767f_2_315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Node: Bereich auf dem Ring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1" name="Google Shape;1111;g3e28b82767f_2_315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g3e28b82767f_2_315"/>
          <p:cNvGrpSpPr/>
          <p:nvPr/>
        </p:nvGrpSpPr>
        <p:grpSpPr>
          <a:xfrm>
            <a:off x="457200" y="2646270"/>
            <a:ext cx="2405400" cy="668700"/>
            <a:chOff x="320050" y="1005850"/>
            <a:chExt cx="2405400" cy="668700"/>
          </a:xfrm>
        </p:grpSpPr>
        <p:grpSp>
          <p:nvGrpSpPr>
            <p:cNvPr id="1113" name="Google Shape;1113;g3e28b82767f_2_315"/>
            <p:cNvGrpSpPr/>
            <p:nvPr/>
          </p:nvGrpSpPr>
          <p:grpSpPr>
            <a:xfrm>
              <a:off x="320050" y="1005850"/>
              <a:ext cx="2405400" cy="668700"/>
              <a:chOff x="320050" y="1005850"/>
              <a:chExt cx="2405400" cy="668700"/>
            </a:xfrm>
          </p:grpSpPr>
          <p:sp>
            <p:nvSpPr>
              <p:cNvPr id="1114" name="Google Shape;1114;g3e28b82767f_2_315"/>
              <p:cNvSpPr/>
              <p:nvPr/>
            </p:nvSpPr>
            <p:spPr>
              <a:xfrm>
                <a:off x="320050" y="1005850"/>
                <a:ext cx="24054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g3e28b82767f_2_315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Neuer Node</a:t>
                </a:r>
                <a:endParaRPr sz="1600" b="0" i="0" u="none" strike="noStrike" cap="none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g3e28b82767f_2_315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Stelle 10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7" name="Google Shape;1117;g3e28b82767f_2_315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e28b82767f_2_39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g3e28b82767f_2_399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</a:t>
            </a:r>
            <a:r>
              <a:rPr lang="en-US" sz="2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Virtual Nodes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5" name="Google Shape;1125;g3e28b82767f_2_399"/>
          <p:cNvGrpSpPr/>
          <p:nvPr/>
        </p:nvGrpSpPr>
        <p:grpSpPr>
          <a:xfrm>
            <a:off x="457211" y="1033825"/>
            <a:ext cx="4085246" cy="668700"/>
            <a:chOff x="320050" y="1005850"/>
            <a:chExt cx="4121100" cy="668700"/>
          </a:xfrm>
        </p:grpSpPr>
        <p:grpSp>
          <p:nvGrpSpPr>
            <p:cNvPr id="1126" name="Google Shape;1126;g3e28b82767f_2_399"/>
            <p:cNvGrpSpPr/>
            <p:nvPr/>
          </p:nvGrpSpPr>
          <p:grpSpPr>
            <a:xfrm>
              <a:off x="320050" y="1005850"/>
              <a:ext cx="4121100" cy="668700"/>
              <a:chOff x="320050" y="1005850"/>
              <a:chExt cx="4121100" cy="668700"/>
            </a:xfrm>
          </p:grpSpPr>
          <p:sp>
            <p:nvSpPr>
              <p:cNvPr id="1127" name="Google Shape;1127;g3e28b82767f_2_399"/>
              <p:cNvSpPr/>
              <p:nvPr/>
            </p:nvSpPr>
            <p:spPr>
              <a:xfrm>
                <a:off x="320050" y="1005850"/>
                <a:ext cx="4121100" cy="668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127000" dist="38100" dir="8100000" algn="bl" rotWithShape="0">
                  <a:srgbClr val="000000">
                    <a:alpha val="784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g3e28b82767f_2_399"/>
              <p:cNvSpPr/>
              <p:nvPr/>
            </p:nvSpPr>
            <p:spPr>
              <a:xfrm>
                <a:off x="363443" y="1050430"/>
                <a:ext cx="1909200" cy="1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E11D48"/>
                  </a:buClr>
                  <a:buSzPts val="1600"/>
                  <a:buFont typeface="Calibri"/>
                  <a:buNone/>
                </a:pPr>
                <a:r>
                  <a:rPr lang="en-US" sz="1600" b="1">
                    <a:solidFill>
                      <a:srgbClr val="E11D4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Virtual Nodes</a:t>
                </a:r>
                <a:endParaRPr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g3e28b82767f_2_399"/>
              <p:cNvSpPr/>
              <p:nvPr/>
            </p:nvSpPr>
            <p:spPr>
              <a:xfrm>
                <a:off x="363443" y="1284476"/>
                <a:ext cx="1909200" cy="33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200"/>
                  <a:buFont typeface="Calibri"/>
                  <a:buNone/>
                </a:pPr>
                <a:r>
                  <a:rPr lang="en-US" sz="12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Zufällig verteilte virtuelle Nodes eines Servers</a:t>
                </a: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0" name="Google Shape;1130;g3e28b82767f_2_399"/>
            <p:cNvSpPr/>
            <p:nvPr/>
          </p:nvSpPr>
          <p:spPr>
            <a:xfrm>
              <a:off x="320050" y="1005850"/>
              <a:ext cx="43500" cy="6687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g3e28b82767f_2_399"/>
          <p:cNvGrpSpPr/>
          <p:nvPr/>
        </p:nvGrpSpPr>
        <p:grpSpPr>
          <a:xfrm>
            <a:off x="4969663" y="1033825"/>
            <a:ext cx="3567975" cy="3699375"/>
            <a:chOff x="4383950" y="1033825"/>
            <a:chExt cx="3567975" cy="3699375"/>
          </a:xfrm>
        </p:grpSpPr>
        <p:sp>
          <p:nvSpPr>
            <p:cNvPr id="1132" name="Google Shape;1132;g3e28b82767f_2_399"/>
            <p:cNvSpPr/>
            <p:nvPr/>
          </p:nvSpPr>
          <p:spPr>
            <a:xfrm>
              <a:off x="4508825" y="1290100"/>
              <a:ext cx="3443100" cy="34431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g3e28b82767f_2_399"/>
            <p:cNvSpPr/>
            <p:nvPr/>
          </p:nvSpPr>
          <p:spPr>
            <a:xfrm>
              <a:off x="5933225" y="103382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A</a:t>
              </a:r>
              <a:endParaRPr/>
            </a:p>
          </p:txBody>
        </p:sp>
        <p:sp>
          <p:nvSpPr>
            <p:cNvPr id="1134" name="Google Shape;1134;g3e28b82767f_2_399"/>
            <p:cNvSpPr/>
            <p:nvPr/>
          </p:nvSpPr>
          <p:spPr>
            <a:xfrm>
              <a:off x="730740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B</a:t>
              </a:r>
              <a:endParaRPr/>
            </a:p>
          </p:txBody>
        </p:sp>
        <p:sp>
          <p:nvSpPr>
            <p:cNvPr id="1135" name="Google Shape;1135;g3e28b82767f_2_399"/>
            <p:cNvSpPr/>
            <p:nvPr/>
          </p:nvSpPr>
          <p:spPr>
            <a:xfrm>
              <a:off x="4383950" y="3604175"/>
              <a:ext cx="594300" cy="594300"/>
            </a:xfrm>
            <a:prstGeom prst="ellipse">
              <a:avLst/>
            </a:prstGeom>
            <a:solidFill>
              <a:srgbClr val="05966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C</a:t>
              </a:r>
              <a:endParaRPr/>
            </a:p>
          </p:txBody>
        </p:sp>
      </p:grpSp>
      <p:cxnSp>
        <p:nvCxnSpPr>
          <p:cNvPr id="1136" name="Google Shape;1136;g3e28b82767f_2_399"/>
          <p:cNvCxnSpPr>
            <a:stCxn id="1134" idx="2"/>
            <a:endCxn id="1132" idx="2"/>
          </p:cNvCxnSpPr>
          <p:nvPr/>
        </p:nvCxnSpPr>
        <p:spPr>
          <a:xfrm rot="10800000">
            <a:off x="5094413" y="3011525"/>
            <a:ext cx="2798700" cy="88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7" name="Google Shape;1137;g3e28b82767f_2_399"/>
          <p:cNvCxnSpPr>
            <a:stCxn id="1134" idx="1"/>
            <a:endCxn id="1132" idx="1"/>
          </p:cNvCxnSpPr>
          <p:nvPr/>
        </p:nvCxnSpPr>
        <p:spPr>
          <a:xfrm rot="10800000">
            <a:off x="5598746" y="1794308"/>
            <a:ext cx="2381400" cy="189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8" name="Google Shape;1138;g3e28b82767f_2_399"/>
          <p:cNvCxnSpPr>
            <a:stCxn id="1134" idx="0"/>
            <a:endCxn id="1132" idx="7"/>
          </p:cNvCxnSpPr>
          <p:nvPr/>
        </p:nvCxnSpPr>
        <p:spPr>
          <a:xfrm rot="10800000">
            <a:off x="8033363" y="1794275"/>
            <a:ext cx="156900" cy="180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9" name="Google Shape;1139;g3e28b82767f_2_399"/>
          <p:cNvCxnSpPr>
            <a:stCxn id="1135" idx="0"/>
          </p:cNvCxnSpPr>
          <p:nvPr/>
        </p:nvCxnSpPr>
        <p:spPr>
          <a:xfrm rot="10800000" flipH="1">
            <a:off x="5266813" y="1448675"/>
            <a:ext cx="2201100" cy="215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0" name="Google Shape;1140;g3e28b82767f_2_399"/>
          <p:cNvCxnSpPr>
            <a:stCxn id="1135" idx="7"/>
            <a:endCxn id="1132" idx="6"/>
          </p:cNvCxnSpPr>
          <p:nvPr/>
        </p:nvCxnSpPr>
        <p:spPr>
          <a:xfrm rot="10800000" flipH="1">
            <a:off x="5476930" y="3011708"/>
            <a:ext cx="3060600" cy="67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1" name="Google Shape;1141;g3e28b82767f_2_399"/>
          <p:cNvCxnSpPr>
            <a:stCxn id="1135" idx="6"/>
          </p:cNvCxnSpPr>
          <p:nvPr/>
        </p:nvCxnSpPr>
        <p:spPr>
          <a:xfrm>
            <a:off x="5563963" y="3901325"/>
            <a:ext cx="2192100" cy="49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2" name="Google Shape;1142;g3e28b82767f_2_399"/>
          <p:cNvCxnSpPr>
            <a:stCxn id="1133" idx="3"/>
          </p:cNvCxnSpPr>
          <p:nvPr/>
        </p:nvCxnSpPr>
        <p:spPr>
          <a:xfrm flipH="1">
            <a:off x="5210671" y="1541092"/>
            <a:ext cx="1395300" cy="90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3" name="Google Shape;1143;g3e28b82767f_2_399"/>
          <p:cNvCxnSpPr>
            <a:stCxn id="1133" idx="4"/>
            <a:endCxn id="1132" idx="4"/>
          </p:cNvCxnSpPr>
          <p:nvPr/>
        </p:nvCxnSpPr>
        <p:spPr>
          <a:xfrm>
            <a:off x="6816088" y="1628125"/>
            <a:ext cx="0" cy="310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4" name="Google Shape;1144;g3e28b82767f_2_399"/>
          <p:cNvCxnSpPr>
            <a:stCxn id="1133" idx="5"/>
          </p:cNvCxnSpPr>
          <p:nvPr/>
        </p:nvCxnSpPr>
        <p:spPr>
          <a:xfrm>
            <a:off x="7026205" y="1541092"/>
            <a:ext cx="1418100" cy="95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145" name="Google Shape;1145;g3e28b82767f_2_399"/>
          <p:cNvGraphicFramePr/>
          <p:nvPr/>
        </p:nvGraphicFramePr>
        <p:xfrm>
          <a:off x="457225" y="1827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{E0CB3DAC-505E-45D4-8230-F1D8ACD333B4}</a:tableStyleId>
              </a:tblPr>
              <a:tblGrid>
                <a:gridCol w="136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Virtual Node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Physischer Node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C1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A2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C3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6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A2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B3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…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…</a:t>
                      </a:r>
                      <a:endParaRPr sz="11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…</a:t>
                      </a:r>
                      <a:endParaRPr sz="11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5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Replikation mit Preference Lists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57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57"/>
          <p:cNvSpPr/>
          <p:nvPr/>
        </p:nvSpPr>
        <p:spPr>
          <a:xfrm>
            <a:off x="320040" y="1005840"/>
            <a:ext cx="64008" cy="8686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57"/>
          <p:cNvSpPr/>
          <p:nvPr/>
        </p:nvSpPr>
        <p:spPr>
          <a:xfrm>
            <a:off x="502920" y="1097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N Replicas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7"/>
          <p:cNvSpPr/>
          <p:nvPr/>
        </p:nvSpPr>
        <p:spPr>
          <a:xfrm>
            <a:off x="2926080" y="1078992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Jeder Key wird auf N Hosts repliziert (typisch N=3).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Coordinator speichert lokal + repliziert auf N-1 Nachbarn im Ring.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7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7"/>
          <p:cNvSpPr/>
          <p:nvPr/>
        </p:nvSpPr>
        <p:spPr>
          <a:xfrm>
            <a:off x="320040" y="2011680"/>
            <a:ext cx="64008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57"/>
          <p:cNvSpPr/>
          <p:nvPr/>
        </p:nvSpPr>
        <p:spPr>
          <a:xfrm>
            <a:off x="502920" y="2103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Preference List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57"/>
          <p:cNvSpPr/>
          <p:nvPr/>
        </p:nvSpPr>
        <p:spPr>
          <a:xfrm>
            <a:off x="2926080" y="2084832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Geordnete Liste der Nodes f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einen Key.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Enthält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&gt; N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Einträge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um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Ausfälle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abzufangen.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57"/>
          <p:cNvSpPr/>
          <p:nvPr/>
        </p:nvSpPr>
        <p:spPr>
          <a:xfrm>
            <a:off x="320040" y="3017520"/>
            <a:ext cx="8503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57"/>
          <p:cNvSpPr/>
          <p:nvPr/>
        </p:nvSpPr>
        <p:spPr>
          <a:xfrm>
            <a:off x="320040" y="3017520"/>
            <a:ext cx="64008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7"/>
          <p:cNvSpPr/>
          <p:nvPr/>
        </p:nvSpPr>
        <p:spPr>
          <a:xfrm>
            <a:off x="502920" y="31089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Beispiel (N=3)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57"/>
          <p:cNvSpPr/>
          <p:nvPr/>
        </p:nvSpPr>
        <p:spPr>
          <a:xfrm>
            <a:off x="2926080" y="3090672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K --&gt; Node B koordiniert, speichert lokal.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Repliziert auf C und D. Preference List: [B, C, D, E, ...].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57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57"/>
          <p:cNvSpPr/>
          <p:nvPr/>
        </p:nvSpPr>
        <p:spPr>
          <a:xfrm>
            <a:off x="320040" y="4023360"/>
            <a:ext cx="64008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57"/>
          <p:cNvSpPr/>
          <p:nvPr/>
        </p:nvSpPr>
        <p:spPr>
          <a:xfrm>
            <a:off x="502920" y="4114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Multi-Datacenter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57"/>
          <p:cNvSpPr/>
          <p:nvPr/>
        </p:nvSpPr>
        <p:spPr>
          <a:xfrm>
            <a:off x="2926080" y="4096512"/>
            <a:ext cx="56692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Preference List verteilt Nodes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mehrere Datenzentren.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Ganzer DC-Ausfall wird ohne Datenverlust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überlebt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5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Versionierung mit Vector Clocks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9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59"/>
          <p:cNvSpPr/>
          <p:nvPr/>
        </p:nvSpPr>
        <p:spPr>
          <a:xfrm>
            <a:off x="320040" y="1005840"/>
            <a:ext cx="64008" cy="38404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59"/>
          <p:cNvSpPr/>
          <p:nvPr/>
        </p:nvSpPr>
        <p:spPr>
          <a:xfrm>
            <a:off x="502920" y="1078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Eventual Consistency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59"/>
          <p:cNvSpPr/>
          <p:nvPr/>
        </p:nvSpPr>
        <p:spPr>
          <a:xfrm>
            <a:off x="502920" y="150876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put() kehrt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zurück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bevor alle Replicas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aktualisiert sind. Mehrere Versionen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gleichzeitig existieren.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59"/>
          <p:cNvSpPr/>
          <p:nvPr/>
        </p:nvSpPr>
        <p:spPr>
          <a:xfrm>
            <a:off x="502920" y="2377440"/>
            <a:ext cx="3657600" cy="64008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59"/>
          <p:cNvSpPr/>
          <p:nvPr/>
        </p:nvSpPr>
        <p:spPr>
          <a:xfrm>
            <a:off x="502920" y="2377440"/>
            <a:ext cx="6400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59"/>
          <p:cNvSpPr/>
          <p:nvPr/>
        </p:nvSpPr>
        <p:spPr>
          <a:xfrm>
            <a:off x="685800" y="2423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Syntaktische Rekonziliation (Vector Clocks)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System erkennt automatisch die neueste Version.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9"/>
          <p:cNvSpPr/>
          <p:nvPr/>
        </p:nvSpPr>
        <p:spPr>
          <a:xfrm>
            <a:off x="502920" y="3108960"/>
            <a:ext cx="3657600" cy="64008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59"/>
          <p:cNvSpPr/>
          <p:nvPr/>
        </p:nvSpPr>
        <p:spPr>
          <a:xfrm>
            <a:off x="502920" y="3108960"/>
            <a:ext cx="64008" cy="6400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59"/>
          <p:cNvSpPr/>
          <p:nvPr/>
        </p:nvSpPr>
        <p:spPr>
          <a:xfrm>
            <a:off x="685800" y="31546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Semantische Rekonziliation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Bei Konflikten: Applikation merged Versionen.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59"/>
          <p:cNvSpPr/>
          <p:nvPr/>
        </p:nvSpPr>
        <p:spPr>
          <a:xfrm>
            <a:off x="502920" y="38862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Beispiel: Shopping Cart merged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verschiedene Warenkorb-Versionen.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59"/>
          <p:cNvSpPr/>
          <p:nvPr/>
        </p:nvSpPr>
        <p:spPr>
          <a:xfrm>
            <a:off x="4617720" y="1005840"/>
            <a:ext cx="41605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59"/>
          <p:cNvSpPr/>
          <p:nvPr/>
        </p:nvSpPr>
        <p:spPr>
          <a:xfrm>
            <a:off x="4617720" y="1005840"/>
            <a:ext cx="64008" cy="38404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59"/>
          <p:cNvSpPr/>
          <p:nvPr/>
        </p:nvSpPr>
        <p:spPr>
          <a:xfrm>
            <a:off x="480060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Vector Clocks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9"/>
          <p:cNvSpPr/>
          <p:nvPr/>
        </p:nvSpPr>
        <p:spPr>
          <a:xfrm>
            <a:off x="4800600" y="1630995"/>
            <a:ext cx="3749100" cy="2019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59"/>
          <p:cNvSpPr/>
          <p:nvPr/>
        </p:nvSpPr>
        <p:spPr>
          <a:xfrm>
            <a:off x="4892050" y="1631120"/>
            <a:ext cx="3566100" cy="20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A: [2|1|0]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B: [1|1|0]     &lt;-Anfrage (B=Coordinator node)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C: [1|0|0]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A dominiert -&gt; Wert genommen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A: [2|0|1]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B: [1|1|0]     &lt;-Anfrage (B=Coordinator node)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C: [1|0|0]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A5B4FC"/>
                </a:solidFill>
                <a:latin typeface="Consolas"/>
                <a:ea typeface="Consolas"/>
                <a:cs typeface="Consolas"/>
                <a:sym typeface="Consolas"/>
              </a:rPr>
              <a:t>keine Dominanz -&gt; Konflikt, beide Versionen existieren parallel, Rekonziliation nötig</a:t>
            </a:r>
            <a:endParaRPr sz="1000">
              <a:solidFill>
                <a:srgbClr val="A5B4F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2" name="Google Shape;1202;p59"/>
          <p:cNvSpPr/>
          <p:nvPr/>
        </p:nvSpPr>
        <p:spPr>
          <a:xfrm>
            <a:off x="4800600" y="3749040"/>
            <a:ext cx="37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Node dominiert, wenn alle Werte von z.B. Node A &gt;= B sind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6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Quorum (N, R, W) und Sloppy Quorum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1"/>
          <p:cNvSpPr/>
          <p:nvPr/>
        </p:nvSpPr>
        <p:spPr>
          <a:xfrm>
            <a:off x="320040" y="1005840"/>
            <a:ext cx="41148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61"/>
          <p:cNvSpPr/>
          <p:nvPr/>
        </p:nvSpPr>
        <p:spPr>
          <a:xfrm>
            <a:off x="320040" y="1005840"/>
            <a:ext cx="64008" cy="15544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61"/>
          <p:cNvSpPr/>
          <p:nvPr/>
        </p:nvSpPr>
        <p:spPr>
          <a:xfrm>
            <a:off x="502920" y="1078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Quorum-Parameter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1"/>
          <p:cNvSpPr/>
          <p:nvPr/>
        </p:nvSpPr>
        <p:spPr>
          <a:xfrm>
            <a:off x="502920" y="146304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= Anzahl Replicas (typisch: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=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Schreib Quorum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 =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Lese Quorum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+ W &gt; N  --&gt;  Quorum. Standard: (3, 2, 2)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61"/>
          <p:cNvSpPr/>
          <p:nvPr/>
        </p:nvSpPr>
        <p:spPr>
          <a:xfrm>
            <a:off x="4617720" y="1005840"/>
            <a:ext cx="416052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61"/>
          <p:cNvSpPr/>
          <p:nvPr/>
        </p:nvSpPr>
        <p:spPr>
          <a:xfrm>
            <a:off x="4617720" y="1005840"/>
            <a:ext cx="64008" cy="15544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61"/>
          <p:cNvSpPr/>
          <p:nvPr/>
        </p:nvSpPr>
        <p:spPr>
          <a:xfrm>
            <a:off x="480060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Sloppy Quorum + Hinted Handoff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61"/>
          <p:cNvSpPr/>
          <p:nvPr/>
        </p:nvSpPr>
        <p:spPr>
          <a:xfrm>
            <a:off x="4800600" y="146304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Kein striktes Quorum! Reads/Writes gehen 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die ersten N gesunden Nodes.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Node A f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llt aus --&gt; Replica geht an Node 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(mit Hint). Nach Recovery: Nachlieferung.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61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Konfigurierbare Tradeoffs: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61"/>
          <p:cNvSpPr/>
          <p:nvPr/>
        </p:nvSpPr>
        <p:spPr>
          <a:xfrm>
            <a:off x="320040" y="3154680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61"/>
          <p:cNvSpPr/>
          <p:nvPr/>
        </p:nvSpPr>
        <p:spPr>
          <a:xfrm>
            <a:off x="320040" y="3154680"/>
            <a:ext cx="64008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61"/>
          <p:cNvSpPr/>
          <p:nvPr/>
        </p:nvSpPr>
        <p:spPr>
          <a:xfrm>
            <a:off x="502920" y="32004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W =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61"/>
          <p:cNvSpPr/>
          <p:nvPr/>
        </p:nvSpPr>
        <p:spPr>
          <a:xfrm>
            <a:off x="2011680" y="320040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Max.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Verfügbarkeit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Risiko f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Inkonsistenz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1"/>
          <p:cNvSpPr/>
          <p:nvPr/>
        </p:nvSpPr>
        <p:spPr>
          <a:xfrm>
            <a:off x="320040" y="3794760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61"/>
          <p:cNvSpPr/>
          <p:nvPr/>
        </p:nvSpPr>
        <p:spPr>
          <a:xfrm>
            <a:off x="320040" y="3794760"/>
            <a:ext cx="64008" cy="5303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61"/>
          <p:cNvSpPr/>
          <p:nvPr/>
        </p:nvSpPr>
        <p:spPr>
          <a:xfrm>
            <a:off x="502920" y="384048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W = 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1"/>
          <p:cNvSpPr/>
          <p:nvPr/>
        </p:nvSpPr>
        <p:spPr>
          <a:xfrm>
            <a:off x="2011680" y="384048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Max. Konsistenz,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niedrige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Verfügbarkeit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61"/>
          <p:cNvSpPr/>
          <p:nvPr/>
        </p:nvSpPr>
        <p:spPr>
          <a:xfrm>
            <a:off x="320040" y="4434840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61"/>
          <p:cNvSpPr/>
          <p:nvPr/>
        </p:nvSpPr>
        <p:spPr>
          <a:xfrm>
            <a:off x="320040" y="4434840"/>
            <a:ext cx="64008" cy="5303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61"/>
          <p:cNvSpPr/>
          <p:nvPr/>
        </p:nvSpPr>
        <p:spPr>
          <a:xfrm>
            <a:off x="502920" y="44805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R = 1, W = 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1"/>
          <p:cNvSpPr/>
          <p:nvPr/>
        </p:nvSpPr>
        <p:spPr>
          <a:xfrm>
            <a:off x="2011680" y="44805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High-Performance Read Engine (z.B. Produktkatalog)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6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6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Anti-Entropy und Membership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63"/>
          <p:cNvSpPr/>
          <p:nvPr/>
        </p:nvSpPr>
        <p:spPr>
          <a:xfrm>
            <a:off x="320040" y="1005840"/>
            <a:ext cx="41148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63"/>
          <p:cNvSpPr/>
          <p:nvPr/>
        </p:nvSpPr>
        <p:spPr>
          <a:xfrm>
            <a:off x="320040" y="1005840"/>
            <a:ext cx="64008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63"/>
          <p:cNvSpPr/>
          <p:nvPr/>
        </p:nvSpPr>
        <p:spPr>
          <a:xfrm>
            <a:off x="502920" y="1078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Merkle Trees (Anti-Entropy)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63"/>
          <p:cNvSpPr/>
          <p:nvPr/>
        </p:nvSpPr>
        <p:spPr>
          <a:xfrm>
            <a:off x="502920" y="1463040"/>
            <a:ext cx="36576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Zur effizienten Replikat-Synchronisation. Ein Hash-Baum, dessen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Blätter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die Hashes einzelner Keys sind. Elternknoten hashen ihre Kinder.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Vergleich: Zwei Nodes tauschen Root-Hashes aus. Gleich? Alles synchron. Unterschiedlich? Nur die betroffenen Branches werden tiefer verglichen.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Minimiert Datentransfer und Disk-Reads.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63"/>
          <p:cNvSpPr/>
          <p:nvPr/>
        </p:nvSpPr>
        <p:spPr>
          <a:xfrm>
            <a:off x="4617720" y="1005840"/>
            <a:ext cx="41605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63"/>
          <p:cNvSpPr/>
          <p:nvPr/>
        </p:nvSpPr>
        <p:spPr>
          <a:xfrm>
            <a:off x="4617720" y="1005840"/>
            <a:ext cx="64008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63"/>
          <p:cNvSpPr/>
          <p:nvPr/>
        </p:nvSpPr>
        <p:spPr>
          <a:xfrm>
            <a:off x="4800600" y="10789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Gossip-Protokoll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63"/>
          <p:cNvSpPr/>
          <p:nvPr/>
        </p:nvSpPr>
        <p:spPr>
          <a:xfrm>
            <a:off x="4800600" y="146304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Membership-Informationen werden dezentral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ein Gossip-Protokoll verbreitet. Jede Sekunde kontaktiert ein Node einen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zufällig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gewählten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Peer.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Seed-Nodes verhindern logische Partitionen im Ring. Failure Detection: Ein Node gilt als ausgefallen, wenn er auf Nachrichten nicht antwortet.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Vorteil: Kein zentrales Registry. Symmetrisch.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63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63"/>
          <p:cNvSpPr/>
          <p:nvPr/>
        </p:nvSpPr>
        <p:spPr>
          <a:xfrm>
            <a:off x="320040" y="3383280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63"/>
          <p:cNvSpPr/>
          <p:nvPr/>
        </p:nvSpPr>
        <p:spPr>
          <a:xfrm>
            <a:off x="502920" y="345643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63"/>
          <p:cNvSpPr/>
          <p:nvPr/>
        </p:nvSpPr>
        <p:spPr>
          <a:xfrm>
            <a:off x="502920" y="38404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Nach einem Read wartet der Coordinator kurz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späte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Antworten. Enthalten diese veraltete Versionen, werden die betroffenen Nodes opportunistisch mit der neuesten Version aktualisiert. Das entlastet den Anti-Entropy-Prozess erheblich.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6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Nutzungsmuster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67"/>
          <p:cNvSpPr/>
          <p:nvPr/>
        </p:nvSpPr>
        <p:spPr>
          <a:xfrm>
            <a:off x="320040" y="1005840"/>
            <a:ext cx="85039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67"/>
          <p:cNvSpPr/>
          <p:nvPr/>
        </p:nvSpPr>
        <p:spPr>
          <a:xfrm>
            <a:off x="320040" y="1005840"/>
            <a:ext cx="64008" cy="8412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67"/>
          <p:cNvSpPr/>
          <p:nvPr/>
        </p:nvSpPr>
        <p:spPr>
          <a:xfrm>
            <a:off x="502920" y="106070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Business-Logic Reconciliation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67"/>
          <p:cNvSpPr/>
          <p:nvPr/>
        </p:nvSpPr>
        <p:spPr>
          <a:xfrm>
            <a:off x="502920" y="138988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Applikation führt eigene Merge-Logik aus. Beispiel: Shopping Cart merged verschiedene Warenkorb-Versionen.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67"/>
          <p:cNvSpPr/>
          <p:nvPr/>
        </p:nvSpPr>
        <p:spPr>
          <a:xfrm>
            <a:off x="320040" y="1965960"/>
            <a:ext cx="85039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67"/>
          <p:cNvSpPr/>
          <p:nvPr/>
        </p:nvSpPr>
        <p:spPr>
          <a:xfrm>
            <a:off x="320040" y="1965960"/>
            <a:ext cx="64008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67"/>
          <p:cNvSpPr/>
          <p:nvPr/>
        </p:nvSpPr>
        <p:spPr>
          <a:xfrm>
            <a:off x="502920" y="20208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Timestamp-based Reconciliation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67"/>
          <p:cNvSpPr/>
          <p:nvPr/>
        </p:nvSpPr>
        <p:spPr>
          <a:xfrm>
            <a:off x="502920" y="235000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Last-Write-Wins anhand physischer Timestamps. Einfacher, aber weniger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präzise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Beispiel: Session-Management.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67"/>
          <p:cNvSpPr/>
          <p:nvPr/>
        </p:nvSpPr>
        <p:spPr>
          <a:xfrm>
            <a:off x="320040" y="2926080"/>
            <a:ext cx="850392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67"/>
          <p:cNvSpPr/>
          <p:nvPr/>
        </p:nvSpPr>
        <p:spPr>
          <a:xfrm>
            <a:off x="320040" y="2926080"/>
            <a:ext cx="64008" cy="8412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67"/>
          <p:cNvSpPr/>
          <p:nvPr/>
        </p:nvSpPr>
        <p:spPr>
          <a:xfrm>
            <a:off x="502920" y="29809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High-Performance Read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67"/>
          <p:cNvSpPr/>
          <p:nvPr/>
        </p:nvSpPr>
        <p:spPr>
          <a:xfrm>
            <a:off x="502920" y="331012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R=1, W=N. Viele Reads, wenige Writes. Genutzt als autoritativer Cache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Produktkataloge.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6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6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Dynamo: Ergebnisse in Produktion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65"/>
          <p:cNvSpPr/>
          <p:nvPr/>
        </p:nvSpPr>
        <p:spPr>
          <a:xfrm>
            <a:off x="32004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65"/>
          <p:cNvSpPr/>
          <p:nvPr/>
        </p:nvSpPr>
        <p:spPr>
          <a:xfrm>
            <a:off x="320040" y="1051560"/>
            <a:ext cx="64008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65"/>
          <p:cNvSpPr/>
          <p:nvPr/>
        </p:nvSpPr>
        <p:spPr>
          <a:xfrm>
            <a:off x="32004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99.9995%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65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Verfuegbarkeit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65"/>
          <p:cNvSpPr/>
          <p:nvPr/>
        </p:nvSpPr>
        <p:spPr>
          <a:xfrm>
            <a:off x="251460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65"/>
          <p:cNvSpPr/>
          <p:nvPr/>
        </p:nvSpPr>
        <p:spPr>
          <a:xfrm>
            <a:off x="2514600" y="1051560"/>
            <a:ext cx="64008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65"/>
          <p:cNvSpPr/>
          <p:nvPr/>
        </p:nvSpPr>
        <p:spPr>
          <a:xfrm>
            <a:off x="251460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&lt; 300ms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65"/>
          <p:cNvSpPr/>
          <p:nvPr/>
        </p:nvSpPr>
        <p:spPr>
          <a:xfrm>
            <a:off x="2514600" y="1691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SLA (p99.9)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65"/>
          <p:cNvSpPr/>
          <p:nvPr/>
        </p:nvSpPr>
        <p:spPr>
          <a:xfrm>
            <a:off x="47091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65"/>
          <p:cNvSpPr/>
          <p:nvPr/>
        </p:nvSpPr>
        <p:spPr>
          <a:xfrm>
            <a:off x="4709160" y="1051560"/>
            <a:ext cx="64008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65"/>
          <p:cNvSpPr/>
          <p:nvPr/>
        </p:nvSpPr>
        <p:spPr>
          <a:xfrm>
            <a:off x="470916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3 Replicas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65"/>
          <p:cNvSpPr/>
          <p:nvPr/>
        </p:nvSpPr>
        <p:spPr>
          <a:xfrm>
            <a:off x="4709160" y="1691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(N, R, W) = (3, 2, 2)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65"/>
          <p:cNvSpPr/>
          <p:nvPr/>
        </p:nvSpPr>
        <p:spPr>
          <a:xfrm>
            <a:off x="690372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65"/>
          <p:cNvSpPr/>
          <p:nvPr/>
        </p:nvSpPr>
        <p:spPr>
          <a:xfrm>
            <a:off x="6903720" y="1051560"/>
            <a:ext cx="64008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65"/>
          <p:cNvSpPr/>
          <p:nvPr/>
        </p:nvSpPr>
        <p:spPr>
          <a:xfrm>
            <a:off x="690372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E11D48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65"/>
          <p:cNvSpPr/>
          <p:nvPr/>
        </p:nvSpPr>
        <p:spPr>
          <a:xfrm>
            <a:off x="6903720" y="1691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Datenverluste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65"/>
          <p:cNvSpPr/>
          <p:nvPr/>
        </p:nvSpPr>
        <p:spPr>
          <a:xfrm>
            <a:off x="320040" y="2423160"/>
            <a:ext cx="85039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65"/>
          <p:cNvSpPr/>
          <p:nvPr/>
        </p:nvSpPr>
        <p:spPr>
          <a:xfrm>
            <a:off x="320040" y="2423160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65"/>
          <p:cNvSpPr/>
          <p:nvPr/>
        </p:nvSpPr>
        <p:spPr>
          <a:xfrm>
            <a:off x="502920" y="246888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Holiday Season: Shopping Cart Service bediente Millionen Requests mit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3 Mio. Checkouts pro Tag -- ohne Downtime.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65"/>
          <p:cNvSpPr/>
          <p:nvPr/>
        </p:nvSpPr>
        <p:spPr>
          <a:xfrm>
            <a:off x="320040" y="2944368"/>
            <a:ext cx="85039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65"/>
          <p:cNvSpPr/>
          <p:nvPr/>
        </p:nvSpPr>
        <p:spPr>
          <a:xfrm>
            <a:off x="320040" y="2944368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65"/>
          <p:cNvSpPr/>
          <p:nvPr/>
        </p:nvSpPr>
        <p:spPr>
          <a:xfrm>
            <a:off x="502920" y="29900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Divergente Versionen sind selten: 99.94% der Anfragen sahen genau eine Version. Nur 0.00057% sahen zwei.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65"/>
          <p:cNvSpPr/>
          <p:nvPr/>
        </p:nvSpPr>
        <p:spPr>
          <a:xfrm>
            <a:off x="320040" y="3465576"/>
            <a:ext cx="85039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65"/>
          <p:cNvSpPr/>
          <p:nvPr/>
        </p:nvSpPr>
        <p:spPr>
          <a:xfrm>
            <a:off x="320040" y="3465576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65"/>
          <p:cNvSpPr/>
          <p:nvPr/>
        </p:nvSpPr>
        <p:spPr>
          <a:xfrm>
            <a:off x="502920" y="351129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Client-driven Koordination senkte die p99.9-Latenz um mindestens 30ms </a:t>
            </a: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gegenüber</a:t>
            </a: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dem Load-Balancer-Ansatz.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5"/>
          <p:cNvSpPr/>
          <p:nvPr/>
        </p:nvSpPr>
        <p:spPr>
          <a:xfrm>
            <a:off x="320040" y="3986784"/>
            <a:ext cx="85039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65"/>
          <p:cNvSpPr/>
          <p:nvPr/>
        </p:nvSpPr>
        <p:spPr>
          <a:xfrm>
            <a:off x="320040" y="3986784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65"/>
          <p:cNvSpPr/>
          <p:nvPr/>
        </p:nvSpPr>
        <p:spPr>
          <a:xfrm>
            <a:off x="502920" y="403250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Write-Buffering reduzierte die p99.9-Latenz um Faktor 5 bei nur 1.000 gepufferten Objekten.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65"/>
          <p:cNvSpPr/>
          <p:nvPr/>
        </p:nvSpPr>
        <p:spPr>
          <a:xfrm>
            <a:off x="320040" y="4507992"/>
            <a:ext cx="85039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65"/>
          <p:cNvSpPr/>
          <p:nvPr/>
        </p:nvSpPr>
        <p:spPr>
          <a:xfrm>
            <a:off x="320040" y="4507992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65"/>
          <p:cNvSpPr/>
          <p:nvPr/>
        </p:nvSpPr>
        <p:spPr>
          <a:xfrm>
            <a:off x="502920" y="455371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Partitionierungsstrategie 3 (Q/S Tokens, feste Partitionen) erzielte die beste Lastverteilung und vereinfachte Archivierung.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69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69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69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Ethik &amp;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Governance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69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69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Verantwortungsvoller Umgang mit Key-Value Stores  --  10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7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7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Datenschutz und DSGVO-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Konformität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71"/>
          <p:cNvSpPr/>
          <p:nvPr/>
        </p:nvSpPr>
        <p:spPr>
          <a:xfrm>
            <a:off x="320040" y="1005840"/>
            <a:ext cx="8503920" cy="54864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11D4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7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Frage: Welche personenbezogenen Daten </a:t>
            </a:r>
            <a:r>
              <a:rPr lang="en-US" sz="1300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 in einem Redis-Cache landen -- und </a:t>
            </a:r>
            <a:r>
              <a:rPr lang="en-US" sz="1300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wüsste</a:t>
            </a: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 man es?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a86b571af3_0_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g3a86b571af3_0_0"/>
          <p:cNvSpPr/>
          <p:nvPr/>
        </p:nvSpPr>
        <p:spPr>
          <a:xfrm>
            <a:off x="457200" y="1371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Datenschutz und DSGVO-</a:t>
            </a: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Konformität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g3a86b571af3_0_0"/>
          <p:cNvSpPr/>
          <p:nvPr/>
        </p:nvSpPr>
        <p:spPr>
          <a:xfrm>
            <a:off x="320040" y="1005840"/>
            <a:ext cx="8503800" cy="548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11D48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g3a86b571af3_0_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Frage: Welche personenbezogenen Daten </a:t>
            </a:r>
            <a:r>
              <a:rPr lang="en-US" sz="1300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 in einem Redis-Cache landen -- und </a:t>
            </a:r>
            <a:r>
              <a:rPr lang="en-US" sz="1300" b="1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wüsste</a:t>
            </a: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 man es?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g3a86b571af3_0_0"/>
          <p:cNvSpPr/>
          <p:nvPr/>
        </p:nvSpPr>
        <p:spPr>
          <a:xfrm>
            <a:off x="320040" y="1691640"/>
            <a:ext cx="85038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g3a86b571af3_0_0"/>
          <p:cNvSpPr/>
          <p:nvPr/>
        </p:nvSpPr>
        <p:spPr>
          <a:xfrm>
            <a:off x="320040" y="1691640"/>
            <a:ext cx="63900" cy="731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g3a86b571af3_0_0"/>
          <p:cNvSpPr/>
          <p:nvPr/>
        </p:nvSpPr>
        <p:spPr>
          <a:xfrm>
            <a:off x="502920" y="175564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Datenpersistenz unklar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g3a86b571af3_0_0"/>
          <p:cNvSpPr/>
          <p:nvPr/>
        </p:nvSpPr>
        <p:spPr>
          <a:xfrm>
            <a:off x="3291840" y="1755648"/>
            <a:ext cx="530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In-Memory KV-Stores ohne Persistenz: Bei Neustart sind Daten weg -- aber kein Audit-Trail, wann was gespeichert war.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g3a86b571af3_0_0"/>
          <p:cNvSpPr/>
          <p:nvPr/>
        </p:nvSpPr>
        <p:spPr>
          <a:xfrm>
            <a:off x="320040" y="2532888"/>
            <a:ext cx="85038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g3a86b571af3_0_0"/>
          <p:cNvSpPr/>
          <p:nvPr/>
        </p:nvSpPr>
        <p:spPr>
          <a:xfrm>
            <a:off x="320040" y="2532888"/>
            <a:ext cx="63900" cy="731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g3a86b571af3_0_0"/>
          <p:cNvSpPr/>
          <p:nvPr/>
        </p:nvSpPr>
        <p:spPr>
          <a:xfrm>
            <a:off x="502920" y="2596896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Personenbezogene Daten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g3a86b571af3_0_0"/>
          <p:cNvSpPr/>
          <p:nvPr/>
        </p:nvSpPr>
        <p:spPr>
          <a:xfrm>
            <a:off x="3291840" y="2596896"/>
            <a:ext cx="530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Session-IDs, User-Tokens, IP-Adressen,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Suchverläufe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-- oft ohne explizite Dokumentation gecached.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g3a86b571af3_0_0"/>
          <p:cNvSpPr/>
          <p:nvPr/>
        </p:nvSpPr>
        <p:spPr>
          <a:xfrm>
            <a:off x="320040" y="3374136"/>
            <a:ext cx="85038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g3a86b571af3_0_0"/>
          <p:cNvSpPr/>
          <p:nvPr/>
        </p:nvSpPr>
        <p:spPr>
          <a:xfrm>
            <a:off x="320040" y="3374136"/>
            <a:ext cx="63900" cy="731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g3a86b571af3_0_0"/>
          <p:cNvSpPr/>
          <p:nvPr/>
        </p:nvSpPr>
        <p:spPr>
          <a:xfrm>
            <a:off x="502920" y="3438144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Datenlokalisierung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g3a86b571af3_0_0"/>
          <p:cNvSpPr/>
          <p:nvPr/>
        </p:nvSpPr>
        <p:spPr>
          <a:xfrm>
            <a:off x="3291840" y="3438144"/>
            <a:ext cx="530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Cloud-Dienste (AWS ElastiCache)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Daten in andere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Länder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replizieren. DSGVO verlangt Datenhaltung im EWR.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g3a86b571af3_0_0"/>
          <p:cNvSpPr/>
          <p:nvPr/>
        </p:nvSpPr>
        <p:spPr>
          <a:xfrm>
            <a:off x="320040" y="4215384"/>
            <a:ext cx="8503800" cy="73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g3a86b571af3_0_0"/>
          <p:cNvSpPr/>
          <p:nvPr/>
        </p:nvSpPr>
        <p:spPr>
          <a:xfrm>
            <a:off x="320040" y="4215384"/>
            <a:ext cx="63900" cy="7314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g3a86b571af3_0_0"/>
          <p:cNvSpPr/>
          <p:nvPr/>
        </p:nvSpPr>
        <p:spPr>
          <a:xfrm>
            <a:off x="502920" y="42793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300" b="1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Löschung</a:t>
            </a: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 (Art. 17 DSGVO)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g3a86b571af3_0_0"/>
          <p:cNvSpPr/>
          <p:nvPr/>
        </p:nvSpPr>
        <p:spPr>
          <a:xfrm>
            <a:off x="3291840" y="4279392"/>
            <a:ext cx="5303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TTL-basiertes Ablaufen von Keys ist kein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vollständiger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Ersatz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aktive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Löschung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personenbezogener Daten.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7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73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Bias durch Caching-Mechanismen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73"/>
          <p:cNvSpPr/>
          <p:nvPr/>
        </p:nvSpPr>
        <p:spPr>
          <a:xfrm>
            <a:off x="320040" y="1005840"/>
            <a:ext cx="85039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73"/>
          <p:cNvSpPr/>
          <p:nvPr/>
        </p:nvSpPr>
        <p:spPr>
          <a:xfrm>
            <a:off x="320040" y="1005840"/>
            <a:ext cx="64008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73"/>
          <p:cNvSpPr/>
          <p:nvPr/>
        </p:nvSpPr>
        <p:spPr>
          <a:xfrm>
            <a:off x="502920" y="107899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Das Feedback-Loop-Problem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73"/>
          <p:cNvSpPr/>
          <p:nvPr/>
        </p:nvSpPr>
        <p:spPr>
          <a:xfrm>
            <a:off x="502920" y="1463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Content wird gecached --&gt; schnellere Auslieferung --&gt; wird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häufiger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angeklickt --&gt; wird noch </a:t>
            </a:r>
            <a:r>
              <a:rPr lang="en-US" sz="12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stärker</a:t>
            </a:r>
            <a:r>
              <a:rPr lang="en-US" sz="12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gecached. Seltene Inhalte haben einen systematischen Nachteil.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3"/>
          <p:cNvSpPr/>
          <p:nvPr/>
        </p:nvSpPr>
        <p:spPr>
          <a:xfrm>
            <a:off x="320040" y="2286000"/>
            <a:ext cx="40690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73"/>
          <p:cNvSpPr/>
          <p:nvPr/>
        </p:nvSpPr>
        <p:spPr>
          <a:xfrm>
            <a:off x="320040" y="2286000"/>
            <a:ext cx="6400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73"/>
          <p:cNvSpPr/>
          <p:nvPr/>
        </p:nvSpPr>
        <p:spPr>
          <a:xfrm>
            <a:off x="502920" y="23591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Beispiel: Nachrichten-Plattform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73"/>
          <p:cNvSpPr/>
          <p:nvPr/>
        </p:nvSpPr>
        <p:spPr>
          <a:xfrm>
            <a:off x="502920" y="26974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Top-100-Artikel gecached, Nischen-Themen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nicht.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Minoritäre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verschwinden.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73"/>
          <p:cNvSpPr/>
          <p:nvPr/>
        </p:nvSpPr>
        <p:spPr>
          <a:xfrm>
            <a:off x="4617720" y="2286000"/>
            <a:ext cx="41605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73"/>
          <p:cNvSpPr/>
          <p:nvPr/>
        </p:nvSpPr>
        <p:spPr>
          <a:xfrm>
            <a:off x="4617720" y="2286000"/>
            <a:ext cx="64008" cy="11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73"/>
          <p:cNvSpPr/>
          <p:nvPr/>
        </p:nvSpPr>
        <p:spPr>
          <a:xfrm>
            <a:off x="4800600" y="2359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Beispiel: E-Commerce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73"/>
          <p:cNvSpPr/>
          <p:nvPr/>
        </p:nvSpPr>
        <p:spPr>
          <a:xfrm>
            <a:off x="4800600" y="26974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Empfehlungen basieren auf gecachten Bestsellern.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Neue oder spezialisierte Produkte benachteiligt.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73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Gegenmassnahmen: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73"/>
          <p:cNvSpPr/>
          <p:nvPr/>
        </p:nvSpPr>
        <p:spPr>
          <a:xfrm>
            <a:off x="320040" y="3977640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73"/>
          <p:cNvSpPr/>
          <p:nvPr/>
        </p:nvSpPr>
        <p:spPr>
          <a:xfrm>
            <a:off x="320040" y="3977640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73"/>
          <p:cNvSpPr/>
          <p:nvPr/>
        </p:nvSpPr>
        <p:spPr>
          <a:xfrm>
            <a:off x="502920" y="403250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Cache-Strategie bewusst designen (nicht nur LRU)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73"/>
          <p:cNvSpPr/>
          <p:nvPr/>
        </p:nvSpPr>
        <p:spPr>
          <a:xfrm>
            <a:off x="4617720" y="3977640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73"/>
          <p:cNvSpPr/>
          <p:nvPr/>
        </p:nvSpPr>
        <p:spPr>
          <a:xfrm>
            <a:off x="4617720" y="3977640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73"/>
          <p:cNvSpPr/>
          <p:nvPr/>
        </p:nvSpPr>
        <p:spPr>
          <a:xfrm>
            <a:off x="4800600" y="403250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Monitoring: Welche Inhalte werden nie gecached?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73"/>
          <p:cNvSpPr/>
          <p:nvPr/>
        </p:nvSpPr>
        <p:spPr>
          <a:xfrm>
            <a:off x="320040" y="4507992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73"/>
          <p:cNvSpPr/>
          <p:nvPr/>
        </p:nvSpPr>
        <p:spPr>
          <a:xfrm>
            <a:off x="320040" y="4507992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73"/>
          <p:cNvSpPr/>
          <p:nvPr/>
        </p:nvSpPr>
        <p:spPr>
          <a:xfrm>
            <a:off x="502920" y="45628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Zufällige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Exploration einbauen (Epsilon-Greedy)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73"/>
          <p:cNvSpPr/>
          <p:nvPr/>
        </p:nvSpPr>
        <p:spPr>
          <a:xfrm>
            <a:off x="4617720" y="4507992"/>
            <a:ext cx="42062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1" name="Google Shape;1451;p73"/>
          <p:cNvSpPr/>
          <p:nvPr/>
        </p:nvSpPr>
        <p:spPr>
          <a:xfrm>
            <a:off x="4617720" y="4507992"/>
            <a:ext cx="64008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73"/>
          <p:cNvSpPr/>
          <p:nvPr/>
        </p:nvSpPr>
        <p:spPr>
          <a:xfrm>
            <a:off x="4800600" y="45628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Regelmäßige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Audits der Cache-Hit-Verteilung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7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7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Datenqualität</a:t>
            </a: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bei Schema-less Systemen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75"/>
          <p:cNvSpPr/>
          <p:nvPr/>
        </p:nvSpPr>
        <p:spPr>
          <a:xfrm>
            <a:off x="457200" y="9875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Risiken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75"/>
          <p:cNvSpPr/>
          <p:nvPr/>
        </p:nvSpPr>
        <p:spPr>
          <a:xfrm>
            <a:off x="320040" y="1371600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75"/>
          <p:cNvSpPr/>
          <p:nvPr/>
        </p:nvSpPr>
        <p:spPr>
          <a:xfrm>
            <a:off x="320040" y="1371600"/>
            <a:ext cx="64008" cy="7132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75"/>
          <p:cNvSpPr/>
          <p:nvPr/>
        </p:nvSpPr>
        <p:spPr>
          <a:xfrm>
            <a:off x="502920" y="14264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Falsche Datentypen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75"/>
          <p:cNvSpPr/>
          <p:nvPr/>
        </p:nvSpPr>
        <p:spPr>
          <a:xfrm>
            <a:off x="502920" y="17007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String statt Integer im Value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75"/>
          <p:cNvSpPr/>
          <p:nvPr/>
        </p:nvSpPr>
        <p:spPr>
          <a:xfrm>
            <a:off x="320040" y="2212848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75"/>
          <p:cNvSpPr/>
          <p:nvPr/>
        </p:nvSpPr>
        <p:spPr>
          <a:xfrm>
            <a:off x="320040" y="2212848"/>
            <a:ext cx="64008" cy="71323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7" name="Google Shape;1477;p75"/>
          <p:cNvSpPr/>
          <p:nvPr/>
        </p:nvSpPr>
        <p:spPr>
          <a:xfrm>
            <a:off x="502920" y="22677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Tippfehler in Keys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75"/>
          <p:cNvSpPr/>
          <p:nvPr/>
        </p:nvSpPr>
        <p:spPr>
          <a:xfrm>
            <a:off x="502920" y="2542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usre:1001 statt user:1001 --&gt; stiller Verlust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75"/>
          <p:cNvSpPr/>
          <p:nvPr/>
        </p:nvSpPr>
        <p:spPr>
          <a:xfrm>
            <a:off x="320040" y="3054096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75"/>
          <p:cNvSpPr/>
          <p:nvPr/>
        </p:nvSpPr>
        <p:spPr>
          <a:xfrm>
            <a:off x="320040" y="3054096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75"/>
          <p:cNvSpPr/>
          <p:nvPr/>
        </p:nvSpPr>
        <p:spPr>
          <a:xfrm>
            <a:off x="502920" y="3108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Inkonsistente Strukturen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75"/>
          <p:cNvSpPr/>
          <p:nvPr/>
        </p:nvSpPr>
        <p:spPr>
          <a:xfrm>
            <a:off x="50292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Manche Objekte mit email-Feld, andere ohne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5"/>
          <p:cNvSpPr/>
          <p:nvPr/>
        </p:nvSpPr>
        <p:spPr>
          <a:xfrm>
            <a:off x="320040" y="3895344"/>
            <a:ext cx="4069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75"/>
          <p:cNvSpPr/>
          <p:nvPr/>
        </p:nvSpPr>
        <p:spPr>
          <a:xfrm>
            <a:off x="320040" y="3895344"/>
            <a:ext cx="64008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75"/>
          <p:cNvSpPr/>
          <p:nvPr/>
        </p:nvSpPr>
        <p:spPr>
          <a:xfrm>
            <a:off x="502920" y="39502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Keine referenzielle </a:t>
            </a:r>
            <a:r>
              <a:rPr lang="en-US" sz="12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Integrität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75"/>
          <p:cNvSpPr/>
          <p:nvPr/>
        </p:nvSpPr>
        <p:spPr>
          <a:xfrm>
            <a:off x="502920" y="4224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Gelöschte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User bleiben als Waisen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75"/>
          <p:cNvSpPr/>
          <p:nvPr/>
        </p:nvSpPr>
        <p:spPr>
          <a:xfrm>
            <a:off x="4754880" y="9875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Gegenmassnahmen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75"/>
          <p:cNvSpPr/>
          <p:nvPr/>
        </p:nvSpPr>
        <p:spPr>
          <a:xfrm>
            <a:off x="4617720" y="1371600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75"/>
          <p:cNvSpPr/>
          <p:nvPr/>
        </p:nvSpPr>
        <p:spPr>
          <a:xfrm>
            <a:off x="4617720" y="1371600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75"/>
          <p:cNvSpPr/>
          <p:nvPr/>
        </p:nvSpPr>
        <p:spPr>
          <a:xfrm>
            <a:off x="4800600" y="14264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Key-Namenskonventionen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75"/>
          <p:cNvSpPr/>
          <p:nvPr/>
        </p:nvSpPr>
        <p:spPr>
          <a:xfrm>
            <a:off x="4800600" y="170078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z.B. user:{id}:profile dokumentieren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75"/>
          <p:cNvSpPr/>
          <p:nvPr/>
        </p:nvSpPr>
        <p:spPr>
          <a:xfrm>
            <a:off x="4617720" y="2212848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75"/>
          <p:cNvSpPr/>
          <p:nvPr/>
        </p:nvSpPr>
        <p:spPr>
          <a:xfrm>
            <a:off x="4617720" y="2212848"/>
            <a:ext cx="64008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4" name="Google Shape;1494;p75"/>
          <p:cNvSpPr/>
          <p:nvPr/>
        </p:nvSpPr>
        <p:spPr>
          <a:xfrm>
            <a:off x="4800600" y="22677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Schema-Validierung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75"/>
          <p:cNvSpPr/>
          <p:nvPr/>
        </p:nvSpPr>
        <p:spPr>
          <a:xfrm>
            <a:off x="4800600" y="25420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Pydantic, JSON Schema im Application-Layer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75"/>
          <p:cNvSpPr/>
          <p:nvPr/>
        </p:nvSpPr>
        <p:spPr>
          <a:xfrm>
            <a:off x="4617720" y="3054096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5"/>
          <p:cNvSpPr/>
          <p:nvPr/>
        </p:nvSpPr>
        <p:spPr>
          <a:xfrm>
            <a:off x="4617720" y="3054096"/>
            <a:ext cx="64008" cy="7132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75"/>
          <p:cNvSpPr/>
          <p:nvPr/>
        </p:nvSpPr>
        <p:spPr>
          <a:xfrm>
            <a:off x="4800600" y="31089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5"/>
          <p:cNvSpPr/>
          <p:nvPr/>
        </p:nvSpPr>
        <p:spPr>
          <a:xfrm>
            <a:off x="4800600" y="33832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Anomalie-Erkennung auf Key-Patterns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75"/>
          <p:cNvSpPr/>
          <p:nvPr/>
        </p:nvSpPr>
        <p:spPr>
          <a:xfrm>
            <a:off x="4617720" y="3895344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75"/>
          <p:cNvSpPr/>
          <p:nvPr/>
        </p:nvSpPr>
        <p:spPr>
          <a:xfrm>
            <a:off x="4617720" y="3895344"/>
            <a:ext cx="64008" cy="7132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75"/>
          <p:cNvSpPr/>
          <p:nvPr/>
        </p:nvSpPr>
        <p:spPr>
          <a:xfrm>
            <a:off x="4800600" y="39502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Data-Quality-Audits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75"/>
          <p:cNvSpPr/>
          <p:nvPr/>
        </p:nvSpPr>
        <p:spPr>
          <a:xfrm>
            <a:off x="4800600" y="42245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Regelmäßig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prüfen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und bereinigen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75"/>
          <p:cNvSpPr/>
          <p:nvPr/>
        </p:nvSpPr>
        <p:spPr>
          <a:xfrm>
            <a:off x="320040" y="4709160"/>
            <a:ext cx="8503920" cy="36576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p75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 Document Stores (MongoDB) kann Schema-Validierung direkt in der DB erzwungen werden -- in KV-Stores nicht.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7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77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Erklärbarkeit</a:t>
            </a: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und Auditierbarkeit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77"/>
          <p:cNvSpPr/>
          <p:nvPr/>
        </p:nvSpPr>
        <p:spPr>
          <a:xfrm>
            <a:off x="320040" y="1005840"/>
            <a:ext cx="85039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77"/>
          <p:cNvSpPr/>
          <p:nvPr/>
        </p:nvSpPr>
        <p:spPr>
          <a:xfrm>
            <a:off x="502920" y="107899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Wer hat wann welchen Wert gesetzt -- und warum?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77"/>
          <p:cNvSpPr/>
          <p:nvPr/>
        </p:nvSpPr>
        <p:spPr>
          <a:xfrm>
            <a:off x="502920" y="1554480"/>
            <a:ext cx="64008" cy="6583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6" name="Google Shape;1526;p77"/>
          <p:cNvSpPr/>
          <p:nvPr/>
        </p:nvSpPr>
        <p:spPr>
          <a:xfrm>
            <a:off x="731520" y="157276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Kein eingebautes Audit-Log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77"/>
          <p:cNvSpPr/>
          <p:nvPr/>
        </p:nvSpPr>
        <p:spPr>
          <a:xfrm>
            <a:off x="731520" y="184708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bieten typischerweise keine Query-History oder Daten-Lineage. Wenn ein Wert falsch ist, gibt es keinen DB-seitigen Hinweis, wer ihn wann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geändert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hat.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77"/>
          <p:cNvSpPr/>
          <p:nvPr/>
        </p:nvSpPr>
        <p:spPr>
          <a:xfrm>
            <a:off x="502920" y="2359152"/>
            <a:ext cx="64008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77"/>
          <p:cNvSpPr/>
          <p:nvPr/>
        </p:nvSpPr>
        <p:spPr>
          <a:xfrm>
            <a:off x="731520" y="23774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Keine Transaktions-Historie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77"/>
          <p:cNvSpPr/>
          <p:nvPr/>
        </p:nvSpPr>
        <p:spPr>
          <a:xfrm>
            <a:off x="731520" y="265176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Anders als relationale Datenbanken mit Transaction Logs oder Redo-Logs fehlt in vielen KV-Stores ein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vollständiges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Write-Ahead-Log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Compliance-Zwecke.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77"/>
          <p:cNvSpPr/>
          <p:nvPr/>
        </p:nvSpPr>
        <p:spPr>
          <a:xfrm>
            <a:off x="502920" y="3163824"/>
            <a:ext cx="64008" cy="658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77"/>
          <p:cNvSpPr/>
          <p:nvPr/>
        </p:nvSpPr>
        <p:spPr>
          <a:xfrm>
            <a:off x="731520" y="318211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Regulatorische Anforderungen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77"/>
          <p:cNvSpPr/>
          <p:nvPr/>
        </p:nvSpPr>
        <p:spPr>
          <a:xfrm>
            <a:off x="731520" y="345643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DSGVO Art. 30 verlangt ein Verzeichnis von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Vorbereitungstätigkeiten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Branchenregulierung (z.B. Finanz) fordert Audit-Trails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Datenänderungen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77"/>
          <p:cNvSpPr/>
          <p:nvPr/>
        </p:nvSpPr>
        <p:spPr>
          <a:xfrm>
            <a:off x="502920" y="3968496"/>
            <a:ext cx="64008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5" name="Google Shape;1535;p77"/>
          <p:cNvSpPr/>
          <p:nvPr/>
        </p:nvSpPr>
        <p:spPr>
          <a:xfrm>
            <a:off x="731520" y="398678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Empfehlung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77"/>
          <p:cNvSpPr/>
          <p:nvPr/>
        </p:nvSpPr>
        <p:spPr>
          <a:xfrm>
            <a:off x="731520" y="4261104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Applikationsseitiges Logging implementieren.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Änderungen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 einem separaten Audit-Stream festhalten (z.B. Redis Streams, Kafka, Elasticsearch).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7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Governance-Empfehlungen: Zusammenfassung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79"/>
          <p:cNvSpPr/>
          <p:nvPr/>
        </p:nvSpPr>
        <p:spPr>
          <a:xfrm>
            <a:off x="320040" y="987552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9"/>
          <p:cNvSpPr/>
          <p:nvPr/>
        </p:nvSpPr>
        <p:spPr>
          <a:xfrm>
            <a:off x="320040" y="987552"/>
            <a:ext cx="64008" cy="56692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79"/>
          <p:cNvSpPr/>
          <p:nvPr/>
        </p:nvSpPr>
        <p:spPr>
          <a:xfrm>
            <a:off x="502920" y="104241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Key-Namenskonventionen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79"/>
          <p:cNvSpPr/>
          <p:nvPr/>
        </p:nvSpPr>
        <p:spPr>
          <a:xfrm>
            <a:off x="2834640" y="1042416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Dokumentierte Naming-Patterns (z.B. entity:id:field). Automatisierte Checks.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79"/>
          <p:cNvSpPr/>
          <p:nvPr/>
        </p:nvSpPr>
        <p:spPr>
          <a:xfrm>
            <a:off x="320040" y="1655064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79"/>
          <p:cNvSpPr/>
          <p:nvPr/>
        </p:nvSpPr>
        <p:spPr>
          <a:xfrm>
            <a:off x="320040" y="1655064"/>
            <a:ext cx="64008" cy="5669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79"/>
          <p:cNvSpPr/>
          <p:nvPr/>
        </p:nvSpPr>
        <p:spPr>
          <a:xfrm>
            <a:off x="502920" y="17099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TTL-Policies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79"/>
          <p:cNvSpPr/>
          <p:nvPr/>
        </p:nvSpPr>
        <p:spPr>
          <a:xfrm>
            <a:off x="2834640" y="1709928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Personenbezogene Daten mit TTL versehen. Kein unendliches Caching von PII.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79"/>
          <p:cNvSpPr/>
          <p:nvPr/>
        </p:nvSpPr>
        <p:spPr>
          <a:xfrm>
            <a:off x="320040" y="2322576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79"/>
          <p:cNvSpPr/>
          <p:nvPr/>
        </p:nvSpPr>
        <p:spPr>
          <a:xfrm>
            <a:off x="320040" y="2322576"/>
            <a:ext cx="64008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9"/>
          <p:cNvSpPr/>
          <p:nvPr/>
        </p:nvSpPr>
        <p:spPr>
          <a:xfrm>
            <a:off x="502920" y="23774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Verschlüsselung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79"/>
          <p:cNvSpPr/>
          <p:nvPr/>
        </p:nvSpPr>
        <p:spPr>
          <a:xfrm>
            <a:off x="2834640" y="237744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At-rest und in-transit.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79"/>
          <p:cNvSpPr/>
          <p:nvPr/>
        </p:nvSpPr>
        <p:spPr>
          <a:xfrm>
            <a:off x="320040" y="2990088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79"/>
          <p:cNvSpPr/>
          <p:nvPr/>
        </p:nvSpPr>
        <p:spPr>
          <a:xfrm>
            <a:off x="320040" y="2990088"/>
            <a:ext cx="64008" cy="5669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9"/>
          <p:cNvSpPr/>
          <p:nvPr/>
        </p:nvSpPr>
        <p:spPr>
          <a:xfrm>
            <a:off x="502920" y="30449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Audit-Logging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79"/>
          <p:cNvSpPr/>
          <p:nvPr/>
        </p:nvSpPr>
        <p:spPr>
          <a:xfrm>
            <a:off x="2834640" y="3044952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Application-Layer Logs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alle Schreiboperationen.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79"/>
          <p:cNvSpPr/>
          <p:nvPr/>
        </p:nvSpPr>
        <p:spPr>
          <a:xfrm>
            <a:off x="320040" y="3657600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79"/>
          <p:cNvSpPr/>
          <p:nvPr/>
        </p:nvSpPr>
        <p:spPr>
          <a:xfrm>
            <a:off x="320040" y="3657600"/>
            <a:ext cx="64008" cy="5669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79"/>
          <p:cNvSpPr/>
          <p:nvPr/>
        </p:nvSpPr>
        <p:spPr>
          <a:xfrm>
            <a:off x="502920" y="37124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Monitoring und Alerting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79"/>
          <p:cNvSpPr/>
          <p:nvPr/>
        </p:nvSpPr>
        <p:spPr>
          <a:xfrm>
            <a:off x="2834640" y="3712464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Cache-Hit-Raten, Key-Verteilung, Memory-Nutzung. Alerts bei </a:t>
            </a: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ungewöhnlichen</a:t>
            </a: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Mustern.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79"/>
          <p:cNvSpPr/>
          <p:nvPr/>
        </p:nvSpPr>
        <p:spPr>
          <a:xfrm>
            <a:off x="320040" y="4325112"/>
            <a:ext cx="8503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79"/>
          <p:cNvSpPr/>
          <p:nvPr/>
        </p:nvSpPr>
        <p:spPr>
          <a:xfrm>
            <a:off x="320040" y="4325112"/>
            <a:ext cx="64008" cy="5669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79"/>
          <p:cNvSpPr/>
          <p:nvPr/>
        </p:nvSpPr>
        <p:spPr>
          <a:xfrm>
            <a:off x="502920" y="437997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Dokumentation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79"/>
          <p:cNvSpPr/>
          <p:nvPr/>
        </p:nvSpPr>
        <p:spPr>
          <a:xfrm>
            <a:off x="2834640" y="4379976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Dictionary pflegen: Welche Key-Patterns existieren, wer ist Owner, welche Daten stecken drin?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3e253f854a2_0_16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g3e253f854a2_0_16"/>
          <p:cNvSpPr/>
          <p:nvPr/>
        </p:nvSpPr>
        <p:spPr>
          <a:xfrm>
            <a:off x="365760" y="1371600"/>
            <a:ext cx="27432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r>
              <a:rPr lang="en-US" sz="9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g3e253f854a2_0_16"/>
          <p:cNvSpPr/>
          <p:nvPr/>
        </p:nvSpPr>
        <p:spPr>
          <a:xfrm>
            <a:off x="3931920" y="1280160"/>
            <a:ext cx="49377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Praktische Demo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g3e253f854a2_0_16"/>
          <p:cNvSpPr/>
          <p:nvPr/>
        </p:nvSpPr>
        <p:spPr>
          <a:xfrm>
            <a:off x="3931920" y="3017520"/>
            <a:ext cx="1828800" cy="54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g3e253f854a2_0_16"/>
          <p:cNvSpPr/>
          <p:nvPr/>
        </p:nvSpPr>
        <p:spPr>
          <a:xfrm>
            <a:off x="3931920" y="3200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3e253f854a2_0_25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g3e253f854a2_0_25"/>
          <p:cNvSpPr/>
          <p:nvPr/>
        </p:nvSpPr>
        <p:spPr>
          <a:xfrm>
            <a:off x="365760" y="1371600"/>
            <a:ext cx="27432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g3e253f854a2_0_25"/>
          <p:cNvSpPr/>
          <p:nvPr/>
        </p:nvSpPr>
        <p:spPr>
          <a:xfrm>
            <a:off x="3931920" y="1280160"/>
            <a:ext cx="49377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Challenge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g3e253f854a2_0_25"/>
          <p:cNvSpPr/>
          <p:nvPr/>
        </p:nvSpPr>
        <p:spPr>
          <a:xfrm>
            <a:off x="3931920" y="3017520"/>
            <a:ext cx="1828800" cy="54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g3e253f854a2_0_25"/>
          <p:cNvSpPr/>
          <p:nvPr/>
        </p:nvSpPr>
        <p:spPr>
          <a:xfrm>
            <a:off x="3931920" y="3200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8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81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81"/>
          <p:cNvSpPr/>
          <p:nvPr/>
        </p:nvSpPr>
        <p:spPr>
          <a:xfrm>
            <a:off x="3931920" y="128016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 i="0" u="none" strike="noStrike" cap="none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81"/>
          <p:cNvSpPr/>
          <p:nvPr/>
        </p:nvSpPr>
        <p:spPr>
          <a:xfrm>
            <a:off x="3931920" y="3017520"/>
            <a:ext cx="1828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7" name="Google Shape;1617;p81"/>
          <p:cNvSpPr/>
          <p:nvPr/>
        </p:nvSpPr>
        <p:spPr>
          <a:xfrm>
            <a:off x="3931920" y="3200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Wissensüberprüfung</a:t>
            </a: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--  10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8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83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1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83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83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7" name="Google Shape;1637;p83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die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Zeitkomplexität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eines Key-Lookups in einem Key-Value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3a86b571af3_0_2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g3a86b571af3_0_2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1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g3a86b571af3_0_2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6" name="Google Shape;1646;g3a86b571af3_0_2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g3a86b571af3_0_2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die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Zeitkomplexität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eines Key-Lookups in einem Key-Value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g3a86b571af3_0_2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g3a86b571af3_0_2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g3a86b571af3_0_2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g3a86b571af3_0_2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g3a86b571af3_0_2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Quadratisch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a86b571af3_0_55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g3a86b571af3_0_55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1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g3a86b571af3_0_55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g3a86b571af3_0_55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g3a86b571af3_0_55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die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Zeitkomplexität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eines Key-Lookups in einem Key-Value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g3a86b571af3_0_55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g3a86b571af3_0_55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g3a86b571af3_0_55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g3a86b571af3_0_55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g3a86b571af3_0_55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Quadratisch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g3a86b571af3_0_55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g3a86b571af3_0_55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g3a86b571af3_0_55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g3a86b571af3_0_55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g3a86b571af3_0_55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ogarithmisch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a86b571af3_0_113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g3a86b571af3_0_113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1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g3a86b571af3_0_113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1" name="Google Shape;1681;g3a86b571af3_0_113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2" name="Google Shape;1682;g3a86b571af3_0_113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die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Zeitkomplexität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eines Key-Lookups in einem Key-Value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g3a86b571af3_0_113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g3a86b571af3_0_113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5" name="Google Shape;1685;g3a86b571af3_0_113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6" name="Google Shape;1686;g3a86b571af3_0_113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g3a86b571af3_0_113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Quadratisch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g3a86b571af3_0_113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g3a86b571af3_0_113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0" name="Google Shape;1690;g3a86b571af3_0_113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1" name="Google Shape;1691;g3a86b571af3_0_113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g3a86b571af3_0_113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ogarithmisch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g3a86b571af3_0_113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g3a86b571af3_0_113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g3a86b571af3_0_113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g3a86b571af3_0_113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g3a86b571af3_0_113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3a86b571af3_0_8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4" name="Google Shape;1704;g3a86b571af3_0_8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1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g3a86b571af3_0_8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g3a86b571af3_0_8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g3a86b571af3_0_8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die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Zeitkomplexität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eines Key-Lookups in einem Key-Value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3a86b571af3_0_8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g3a86b571af3_0_8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g3a86b571af3_0_8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g3a86b571af3_0_8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g3a86b571af3_0_8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Quadratisch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g3a86b571af3_0_8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4" name="Google Shape;1714;g3a86b571af3_0_8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g3a86b571af3_0_8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g3a86b571af3_0_8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g3a86b571af3_0_8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ogarithmisch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g3a86b571af3_0_8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g3a86b571af3_0_8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g3a86b571af3_0_8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g3a86b571af3_0_8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g3a86b571af3_0_8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g3a86b571af3_0_84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4" name="Google Shape;1724;g3a86b571af3_0_84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g3a86b571af3_0_84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g3a86b571af3_0_84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g3a86b571af3_0_84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Konstant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8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8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2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84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84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84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Welcher Python-Redis-Befehl setzt einen Key mit automatischer Ablaufzeit von 60 Sekunden?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a86b571af3_0_345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g3a86b571af3_0_345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2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g3a86b571af3_0_345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g3a86b571af3_0_345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7" name="Google Shape;1747;g3a86b571af3_0_345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Welcher Python-Redis-Befehl setzt einen Key mit automatischer Ablaufzeit von 60 Sekunden?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g3a86b571af3_0_345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g3a86b571af3_0_345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g3a86b571af3_0_345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1" name="Google Shape;1751;g3a86b571af3_0_345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g3a86b571af3_0_345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r.set("k", "v", timeout=60)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a86b571af3_0_31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g3a86b571af3_0_31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2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g3a86b571af3_0_31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1" name="Google Shape;1761;g3a86b571af3_0_31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2" name="Google Shape;1762;g3a86b571af3_0_31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Welcher Python-Redis-Befehl setzt einen Key mit automatischer Ablaufzeit von 60 Sekunden?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g3a86b571af3_0_31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4" name="Google Shape;1764;g3a86b571af3_0_31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5" name="Google Shape;1765;g3a86b571af3_0_31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g3a86b571af3_0_31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g3a86b571af3_0_31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r.set("k", "v", timeout=60)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g3a86b571af3_0_31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g3a86b571af3_0_31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g3a86b571af3_0_31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g3a86b571af3_0_31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g3a86b571af3_0_31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r.set("k", "v", ex=60)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3a86b571af3_0_28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g3a86b571af3_0_287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2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g3a86b571af3_0_287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g3a86b571af3_0_287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g3a86b571af3_0_287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Welcher Python-Redis-Befehl setzt einen Key mit automatischer Ablaufzeit von 60 Sekunden?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g3a86b571af3_0_287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g3a86b571af3_0_287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5" name="Google Shape;1785;g3a86b571af3_0_287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g3a86b571af3_0_287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g3a86b571af3_0_287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r.set("k", "v", timeout=60)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g3a86b571af3_0_287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9" name="Google Shape;1789;g3a86b571af3_0_287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g3a86b571af3_0_287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g3a86b571af3_0_287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g3a86b571af3_0_287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r.set("k", "v", ex=60)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g3a86b571af3_0_287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g3a86b571af3_0_287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g3a86b571af3_0_287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g3a86b571af3_0_287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g3a86b571af3_0_287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r.insert("k", "v", ttl=60)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a86b571af3_0_25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4" name="Google Shape;1804;g3a86b571af3_0_25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2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g3a86b571af3_0_25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g3a86b571af3_0_25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7" name="Google Shape;1807;g3a86b571af3_0_25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Welcher Python-Redis-Befehl setzt einen Key mit automatischer Ablaufzeit von 60 Sekunden?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g3a86b571af3_0_25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g3a86b571af3_0_25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g3a86b571af3_0_25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g3a86b571af3_0_25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g3a86b571af3_0_25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r.set("k", "v", timeout=60)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g3a86b571af3_0_258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g3a86b571af3_0_258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g3a86b571af3_0_258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g3a86b571af3_0_258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g3a86b571af3_0_258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r.set("k", "v", ex=60)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g3a86b571af3_0_258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g3a86b571af3_0_258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g3a86b571af3_0_258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g3a86b571af3_0_258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g3a86b571af3_0_258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r.insert("k", "v", ttl=60)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g3a86b571af3_0_258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g3a86b571af3_0_258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5" name="Google Shape;1825;g3a86b571af3_0_258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g3a86b571af3_0_258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g3a86b571af3_0_258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r.put("k", "v", expire=60)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3a86b571af3_0_171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g3a86b571af3_0_171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3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g3a86b571af3_0_171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6" name="Google Shape;1836;g3a86b571af3_0_171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g3a86b571af3_0_171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unterscheidet einen Key-Value Store grundlegend von einem Document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3a86b571af3_0_461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g3a86b571af3_0_461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3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g3a86b571af3_0_461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g3a86b571af3_0_461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g3a86b571af3_0_461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unterscheidet einen Key-Value Store grundlegend von einem Document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g3a86b571af3_0_461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g3a86b571af3_0_461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g3a86b571af3_0_461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g3a86b571af3_0_461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g3a86b571af3_0_461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sind immer schneller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3a86b571af3_0_43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9" name="Google Shape;1859;g3a86b571af3_0_43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3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g3a86b571af3_0_43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g3a86b571af3_0_43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g3a86b571af3_0_43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unterscheidet einen Key-Value Store grundlegend von einem Document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g3a86b571af3_0_43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g3a86b571af3_0_43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g3a86b571af3_0_43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6" name="Google Shape;1866;g3a86b571af3_0_43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g3a86b571af3_0_43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sind immer schneller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g3a86b571af3_0_43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g3a86b571af3_0_43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0" name="Google Shape;1870;g3a86b571af3_0_43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1" name="Google Shape;1871;g3a86b571af3_0_43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g3a86b571af3_0_43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kein JSON speichern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a86b571af3_0_403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g3a86b571af3_0_403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3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g3a86b571af3_0_403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g3a86b571af3_0_403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g3a86b571af3_0_403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unterscheidet einen Key-Value Store grundlegend von einem Document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g3a86b571af3_0_403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g3a86b571af3_0_403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5" name="Google Shape;1885;g3a86b571af3_0_403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g3a86b571af3_0_403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g3a86b571af3_0_403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sind immer schneller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g3a86b571af3_0_403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g3a86b571af3_0_403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g3a86b571af3_0_403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1" name="Google Shape;1891;g3a86b571af3_0_403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g3a86b571af3_0_403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kein JSON speichern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g3a86b571af3_0_403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4" name="Google Shape;1894;g3a86b571af3_0_403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5" name="Google Shape;1895;g3a86b571af3_0_403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6" name="Google Shape;1896;g3a86b571af3_0_403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g3a86b571af3_0_403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Document Stores verstehen die Struktur des Values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a86b571af3_0_37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g3a86b571af3_0_37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3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g3a86b571af3_0_37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6" name="Google Shape;1906;g3a86b571af3_0_37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7" name="Google Shape;1907;g3a86b571af3_0_37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unterscheidet einen Key-Value Store grundlegend von einem Document Store?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g3a86b571af3_0_37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9" name="Google Shape;1909;g3a86b571af3_0_37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0" name="Google Shape;1910;g3a86b571af3_0_37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g3a86b571af3_0_37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g3a86b571af3_0_37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sind immer schneller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g3a86b571af3_0_37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g3a86b571af3_0_37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g3a86b571af3_0_37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6" name="Google Shape;1916;g3a86b571af3_0_37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g3a86b571af3_0_37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können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kein JSON speichern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g3a86b571af3_0_37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9" name="Google Shape;1919;g3a86b571af3_0_37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0" name="Google Shape;1920;g3a86b571af3_0_37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1" name="Google Shape;1921;g3a86b571af3_0_37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g3a86b571af3_0_37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Document Stores verstehen die Struktur des Values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g3a86b571af3_0_374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4" name="Google Shape;1924;g3a86b571af3_0_374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5" name="Google Shape;1925;g3a86b571af3_0_374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g3a86b571af3_0_374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g3a86b571af3_0_374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KV-Stores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unterstützen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kein Clustering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8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4" name="Google Shape;1934;p8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86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86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86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3a86b571af3_0_61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g3a86b571af3_0_61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g3a86b571af3_0_61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g3a86b571af3_0_61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g3a86b571af3_0_61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3a86b571af3_0_61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g3a86b571af3_0_61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g3a86b571af3_0_61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g3a86b571af3_0_61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g3a86b571af3_0_61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3a86b571af3_0_58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g3a86b571af3_0_58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g3a86b571af3_0_58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1" name="Google Shape;1961;g3a86b571af3_0_58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2" name="Google Shape;1962;g3a86b571af3_0_58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g3a86b571af3_0_58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4" name="Google Shape;1964;g3a86b571af3_0_58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g3a86b571af3_0_58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g3a86b571af3_0_58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g3a86b571af3_0_58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g3a86b571af3_0_58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g3a86b571af3_0_58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0" name="Google Shape;1970;g3a86b571af3_0_58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1" name="Google Shape;1971;g3a86b571af3_0_58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g3a86b571af3_0_58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Partition Tolerance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a86b571af3_0_55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g3a86b571af3_0_55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0" name="Google Shape;1980;g3a86b571af3_0_55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1" name="Google Shape;1981;g3a86b571af3_0_55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2" name="Google Shape;1982;g3a86b571af3_0_55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g3a86b571af3_0_55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4" name="Google Shape;1984;g3a86b571af3_0_55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5" name="Google Shape;1985;g3a86b571af3_0_55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g3a86b571af3_0_55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g3a86b571af3_0_55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g3a86b571af3_0_55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9" name="Google Shape;1989;g3a86b571af3_0_55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g3a86b571af3_0_55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1" name="Google Shape;1991;g3a86b571af3_0_55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g3a86b571af3_0_55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Partition Tolerance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g3a86b571af3_0_55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4" name="Google Shape;1994;g3a86b571af3_0_55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5" name="Google Shape;1995;g3a86b571af3_0_55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6" name="Google Shape;1996;g3a86b571af3_0_55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g3a86b571af3_0_55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Availability + Partition Tolerance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a86b571af3_0_52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g3a86b571af3_0_52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g3a86b571af3_0_52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g3a86b571af3_0_52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g3a86b571af3_0_52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g3a86b571af3_0_52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9" name="Google Shape;2009;g3a86b571af3_0_52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g3a86b571af3_0_52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g3a86b571af3_0_52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g3a86b571af3_0_52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g3a86b571af3_0_52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g3a86b571af3_0_52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g3a86b571af3_0_52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g3a86b571af3_0_52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g3a86b571af3_0_52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Partition Tolerance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g3a86b571af3_0_52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g3a86b571af3_0_52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g3a86b571af3_0_52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g3a86b571af3_0_52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g3a86b571af3_0_52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Availability + Partition Tolerance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g3a86b571af3_0_52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g3a86b571af3_0_52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5" name="Google Shape;2025;g3a86b571af3_0_52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g3a86b571af3_0_52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g3a86b571af3_0_52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Alle drei gleichzeitig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a86b571af3_0_49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g3a86b571af3_0_49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4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g3a86b571af3_0_49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g3a86b571af3_0_49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g3a86b571af3_0_49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Amazon Dynamo priorisiert im CAP-Theorem welche Kombination?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g3a86b571af3_0_49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g3a86b571af3_0_49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0" name="Google Shape;2040;g3a86b571af3_0_49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1" name="Google Shape;2041;g3a86b571af3_0_49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g3a86b571af3_0_49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Availability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g3a86b571af3_0_49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4" name="Google Shape;2044;g3a86b571af3_0_49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5" name="Google Shape;2045;g3a86b571af3_0_49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g3a86b571af3_0_49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g3a86b571af3_0_49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Consistency + Partition Tolerance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g3a86b571af3_0_49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9" name="Google Shape;2049;g3a86b571af3_0_49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g3a86b571af3_0_49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g3a86b571af3_0_49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g3a86b571af3_0_49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Availability + Partition Tolerance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g3a86b571af3_0_49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4" name="Google Shape;2054;g3a86b571af3_0_49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g3a86b571af3_0_49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6" name="Google Shape;2056;g3a86b571af3_0_49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g3a86b571af3_0_49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Alle drei gleichzeitig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g3a86b571af3_0_49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9" name="Google Shape;2059;g3a86b571af3_0_49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g3a86b571af3_0_49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rung: Dynamo ist ein AP-System: Writes werden nie abgelehnt. Konsistenz wird durch Eventual Consistency und applikationsseitige Rekonziliation erreicht.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8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7" name="Google Shape;2067;p87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87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9" name="Google Shape;2069;p87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0" name="Google Shape;2070;p87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3a86b571af3_0_77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g3a86b571af3_0_77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g3a86b571af3_0_77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9" name="Google Shape;2079;g3a86b571af3_0_77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0" name="Google Shape;2080;g3a86b571af3_0_77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g3a86b571af3_0_77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2" name="Google Shape;2082;g3a86b571af3_0_77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g3a86b571af3_0_77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4" name="Google Shape;2084;g3a86b571af3_0_77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g3a86b571af3_0_77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Timestamps (Last-Write-Wins)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3a86b571af3_0_74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2" name="Google Shape;2092;g3a86b571af3_0_74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g3a86b571af3_0_74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g3a86b571af3_0_74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g3a86b571af3_0_74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g3a86b571af3_0_74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7" name="Google Shape;2097;g3a86b571af3_0_74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8" name="Google Shape;2098;g3a86b571af3_0_74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9" name="Google Shape;2099;g3a86b571af3_0_74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g3a86b571af3_0_74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Timestamps (Last-Write-Wins)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g3a86b571af3_0_74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g3a86b571af3_0_74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3" name="Google Shape;2103;g3a86b571af3_0_74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4" name="Google Shape;2104;g3a86b571af3_0_74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g3a86b571af3_0_74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Two-Phase Commit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3a86b571af3_0_71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2" name="Google Shape;2112;g3a86b571af3_0_71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g3a86b571af3_0_71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4" name="Google Shape;2114;g3a86b571af3_0_71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g3a86b571af3_0_71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g3a86b571af3_0_71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7" name="Google Shape;2117;g3a86b571af3_0_71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8" name="Google Shape;2118;g3a86b571af3_0_71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9" name="Google Shape;2119;g3a86b571af3_0_71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g3a86b571af3_0_71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Timestamps (Last-Write-Wins)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g3a86b571af3_0_71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2" name="Google Shape;2122;g3a86b571af3_0_71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g3a86b571af3_0_71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g3a86b571af3_0_71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g3a86b571af3_0_71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Two-Phase Commit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g3a86b571af3_0_71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g3a86b571af3_0_71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g3a86b571af3_0_71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g3a86b571af3_0_71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g3a86b571af3_0_71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Optimistic Locking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3a86b571af3_0_68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g3a86b571af3_0_68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g3a86b571af3_0_68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9" name="Google Shape;2139;g3a86b571af3_0_68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g3a86b571af3_0_68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g3a86b571af3_0_68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2" name="Google Shape;2142;g3a86b571af3_0_68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" name="Google Shape;2143;g3a86b571af3_0_68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g3a86b571af3_0_68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g3a86b571af3_0_68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Timestamps (Last-Write-Wins)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g3a86b571af3_0_68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7" name="Google Shape;2147;g3a86b571af3_0_68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g3a86b571af3_0_68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g3a86b571af3_0_68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g3a86b571af3_0_68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Two-Phase Commit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g3a86b571af3_0_68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g3a86b571af3_0_68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g3a86b571af3_0_68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g3a86b571af3_0_68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g3a86b571af3_0_68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Optimistic Locking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g3a86b571af3_0_68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g3a86b571af3_0_68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8" name="Google Shape;2158;g3a86b571af3_0_68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9" name="Google Shape;2159;g3a86b571af3_0_68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g3a86b571af3_0_68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Vector Clocks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a86b571af3_0_65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g3a86b571af3_0_65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5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g3a86b571af3_0_65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g3a86b571af3_0_65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0" name="Google Shape;2170;g3a86b571af3_0_65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Verfahren nutzt Dynamo zur Versionierung und Konflikterkennung?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g3a86b571af3_0_65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2" name="Google Shape;2172;g3a86b571af3_0_65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g3a86b571af3_0_65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g3a86b571af3_0_65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g3a86b571af3_0_65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Timestamps (Last-Write-Wins)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g3a86b571af3_0_65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7" name="Google Shape;2177;g3a86b571af3_0_65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8" name="Google Shape;2178;g3a86b571af3_0_65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9" name="Google Shape;2179;g3a86b571af3_0_65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g3a86b571af3_0_65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Two-Phase Commit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g3a86b571af3_0_65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2" name="Google Shape;2182;g3a86b571af3_0_65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3" name="Google Shape;2183;g3a86b571af3_0_65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4" name="Google Shape;2184;g3a86b571af3_0_65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g3a86b571af3_0_65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Optimistic Locking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g3a86b571af3_0_65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g3a86b571af3_0_65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g3a86b571af3_0_65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9" name="Google Shape;2189;g3a86b571af3_0_65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g3a86b571af3_0_65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Vector Clocks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g3a86b571af3_0_65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g3a86b571af3_0_65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g3a86b571af3_0_65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rung: Vector Clocks sind Listen von (Node, Counter)-Paaren, die 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Kausalität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zwischen Versionen erfassen. Parallele Branches bedeuten Konflikte.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8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8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88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88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3" name="Google Shape;2203;p88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3a86b571af3_0_93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0" name="Google Shape;2210;g3a86b571af3_0_93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g3a86b571af3_0_93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2" name="Google Shape;2212;g3a86b571af3_0_93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3" name="Google Shape;2213;g3a86b571af3_0_93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g3a86b571af3_0_93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5" name="Google Shape;2215;g3a86b571af3_0_93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g3a86b571af3_0_93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7" name="Google Shape;2217;g3a86b571af3_0_93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g3a86b571af3_0_93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(1, 1, 1)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g3a86b571af3_0_90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g3a86b571af3_0_90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g3a86b571af3_0_90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g3a86b571af3_0_90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g3a86b571af3_0_90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g3a86b571af3_0_90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0" name="Google Shape;2230;g3a86b571af3_0_90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g3a86b571af3_0_90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2" name="Google Shape;2232;g3a86b571af3_0_90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g3a86b571af3_0_90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(1, 1, 1)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g3a86b571af3_0_90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5" name="Google Shape;2235;g3a86b571af3_0_90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g3a86b571af3_0_90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7" name="Google Shape;2237;g3a86b571af3_0_90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g3a86b571af3_0_90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(3, 2, 2)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3a86b571af3_0_87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5" name="Google Shape;2245;g3a86b571af3_0_87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g3a86b571af3_0_87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g3a86b571af3_0_87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8" name="Google Shape;2248;g3a86b571af3_0_87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g3a86b571af3_0_87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0" name="Google Shape;2250;g3a86b571af3_0_87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g3a86b571af3_0_87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g3a86b571af3_0_87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g3a86b571af3_0_87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(1, 1, 1)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g3a86b571af3_0_87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g3a86b571af3_0_87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6" name="Google Shape;2256;g3a86b571af3_0_87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7" name="Google Shape;2257;g3a86b571af3_0_87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g3a86b571af3_0_87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(3, 2, 2)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g3a86b571af3_0_87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g3a86b571af3_0_87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1" name="Google Shape;2261;g3a86b571af3_0_87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2" name="Google Shape;2262;g3a86b571af3_0_87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g3a86b571af3_0_87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(5, 3, 3)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3a86b571af3_0_84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0" name="Google Shape;2270;g3a86b571af3_0_84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g3a86b571af3_0_84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2" name="Google Shape;2272;g3a86b571af3_0_84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g3a86b571af3_0_84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g3a86b571af3_0_84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5" name="Google Shape;2275;g3a86b571af3_0_84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6" name="Google Shape;2276;g3a86b571af3_0_84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7" name="Google Shape;2277;g3a86b571af3_0_84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g3a86b571af3_0_84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(1, 1, 1)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g3a86b571af3_0_84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g3a86b571af3_0_84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g3a86b571af3_0_84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g3a86b571af3_0_84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g3a86b571af3_0_84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(3, 2, 2)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g3a86b571af3_0_84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g3a86b571af3_0_84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g3a86b571af3_0_84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g3a86b571af3_0_84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g3a86b571af3_0_84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(5, 3, 3)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g3a86b571af3_0_84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0" name="Google Shape;2290;g3a86b571af3_0_84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g3a86b571af3_0_84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g3a86b571af3_0_84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g3a86b571af3_0_84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(3, 1, 3)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g3a86b571af3_0_81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0" name="Google Shape;2300;g3a86b571af3_0_81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6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g3a86b571af3_0_81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2" name="Google Shape;2302;g3a86b571af3_0_81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3" name="Google Shape;2303;g3a86b571af3_0_81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Was ist der Standardwert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die Konfiguration (N, R, W) in Dynamo?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g3a86b571af3_0_81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g3a86b571af3_0_81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g3a86b571af3_0_81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g3a86b571af3_0_81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g3a86b571af3_0_81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(1, 1, 1)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g3a86b571af3_0_81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0" name="Google Shape;2310;g3a86b571af3_0_81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1" name="Google Shape;2311;g3a86b571af3_0_81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g3a86b571af3_0_81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g3a86b571af3_0_81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(3, 2, 2)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g3a86b571af3_0_81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g3a86b571af3_0_81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6" name="Google Shape;2316;g3a86b571af3_0_81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7" name="Google Shape;2317;g3a86b571af3_0_81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g3a86b571af3_0_81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(5, 3, 3)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g3a86b571af3_0_81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g3a86b571af3_0_81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g3a86b571af3_0_81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g3a86b571af3_0_81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g3a86b571af3_0_81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(3, 1, 3)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g3a86b571af3_0_81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g3a86b571af3_0_81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g3a86b571af3_0_81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Erklärung: N=3 Replicas, R=2 für Reads, W=2 für Writes. Diese Konfiguration balanciert Performance, Konsistenz und Verfügbarkeit.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9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9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90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90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90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3a86b571af3_0_109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g3a86b571af3_0_109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g3a86b571af3_0_109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5" name="Google Shape;2345;g3a86b571af3_0_109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6" name="Google Shape;2346;g3a86b571af3_0_109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g3a86b571af3_0_109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8" name="Google Shape;2348;g3a86b571af3_0_109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9" name="Google Shape;2349;g3a86b571af3_0_109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0" name="Google Shape;2350;g3a86b571af3_0_109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g3a86b571af3_0_109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Datenportabilität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(Art. 20)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g3a86b571af3_0_106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8" name="Google Shape;2358;g3a86b571af3_0_106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g3a86b571af3_0_106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g3a86b571af3_0_106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g3a86b571af3_0_106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g3a86b571af3_0_106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3" name="Google Shape;2363;g3a86b571af3_0_106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4" name="Google Shape;2364;g3a86b571af3_0_106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g3a86b571af3_0_106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g3a86b571af3_0_106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Datenportabilität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(Art. 20)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g3a86b571af3_0_106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8" name="Google Shape;2368;g3a86b571af3_0_106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g3a86b571af3_0_106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g3a86b571af3_0_106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g3a86b571af3_0_106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Auskunft (Art. 15)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a86b571af3_0_103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8" name="Google Shape;2378;g3a86b571af3_0_103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g3a86b571af3_0_103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g3a86b571af3_0_103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g3a86b571af3_0_103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g3a86b571af3_0_103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3" name="Google Shape;2383;g3a86b571af3_0_103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4" name="Google Shape;2384;g3a86b571af3_0_103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5" name="Google Shape;2385;g3a86b571af3_0_103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g3a86b571af3_0_103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Datenportabilität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(Art. 20)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g3a86b571af3_0_103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8" name="Google Shape;2388;g3a86b571af3_0_103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" name="Google Shape;2389;g3a86b571af3_0_103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g3a86b571af3_0_103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g3a86b571af3_0_103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Auskunft (Art. 15)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g3a86b571af3_0_103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3" name="Google Shape;2393;g3a86b571af3_0_103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4" name="Google Shape;2394;g3a86b571af3_0_103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5" name="Google Shape;2395;g3a86b571af3_0_103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g3a86b571af3_0_103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Löschung</a:t>
            </a: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(Art. 17)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g3a86b571af3_0_100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3" name="Google Shape;2403;g3a86b571af3_0_100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g3a86b571af3_0_100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5" name="Google Shape;2405;g3a86b571af3_0_100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6" name="Google Shape;2406;g3a86b571af3_0_100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g3a86b571af3_0_100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8" name="Google Shape;2408;g3a86b571af3_0_100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9" name="Google Shape;2409;g3a86b571af3_0_100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0" name="Google Shape;2410;g3a86b571af3_0_100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g3a86b571af3_0_100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Datenportabilität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(Art. 20)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g3a86b571af3_0_100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3" name="Google Shape;2413;g3a86b571af3_0_100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4" name="Google Shape;2414;g3a86b571af3_0_100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5" name="Google Shape;2415;g3a86b571af3_0_100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g3a86b571af3_0_100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Auskunft (Art. 15)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g3a86b571af3_0_100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g3a86b571af3_0_100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g3a86b571af3_0_100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g3a86b571af3_0_100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g3a86b571af3_0_100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Löschung</a:t>
            </a: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(Art. 17)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g3a86b571af3_0_100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3" name="Google Shape;2423;g3a86b571af3_0_100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g3a86b571af3_0_100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g3a86b571af3_0_100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g3a86b571af3_0_100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Widerspruch (Art. 21)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3a86b571af3_0_97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g3a86b571af3_0_97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g3a86b571af3_0_97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g3a86b571af3_0_97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6" name="Google Shape;2436;g3a86b571af3_0_97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Welches DSGVO-Recht ist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für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In-Memory-Caching besonders herausfordernd?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g3a86b571af3_0_97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8" name="Google Shape;2438;g3a86b571af3_0_97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9" name="Google Shape;2439;g3a86b571af3_0_97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g3a86b571af3_0_97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g3a86b571af3_0_97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Datenportabilität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(Art. 20)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g3a86b571af3_0_97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3" name="Google Shape;2443;g3a86b571af3_0_97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4" name="Google Shape;2444;g3a86b571af3_0_97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5" name="Google Shape;2445;g3a86b571af3_0_97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g3a86b571af3_0_97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Auskunft (Art. 15)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g3a86b571af3_0_97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g3a86b571af3_0_97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g3a86b571af3_0_97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0" name="Google Shape;2450;g3a86b571af3_0_97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g3a86b571af3_0_97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Recht auf </a:t>
            </a: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Löschung</a:t>
            </a: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(Art. 17)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g3a86b571af3_0_97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3" name="Google Shape;2453;g3a86b571af3_0_97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4" name="Google Shape;2454;g3a86b571af3_0_97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5" name="Google Shape;2455;g3a86b571af3_0_97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g3a86b571af3_0_97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Recht auf Widerspruch (Art. 21)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g3a86b571af3_0_97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8" name="Google Shape;2458;g3a86b571af3_0_97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g3a86b571af3_0_97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rung: TTL-basiertes Ablaufen ist kein Ersatz f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ü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 aktive L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ö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schung. Art. 17 (Right to be Forgotten) muss explizit implementiert werden.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9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6" name="Google Shape;2466;p91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91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8" name="Google Shape;2468;p91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9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g3a86b571af3_0_125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6" name="Google Shape;2476;g3a86b571af3_0_125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g3a86b571af3_0_125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8" name="Google Shape;2478;g3a86b571af3_0_125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9" name="Google Shape;2479;g3a86b571af3_0_125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g3a86b571af3_0_125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1" name="Google Shape;2481;g3a86b571af3_0_125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2" name="Google Shape;2482;g3a86b571af3_0_125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3" name="Google Shape;2483;g3a86b571af3_0_125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g3a86b571af3_0_125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g3a86b571af3_0_122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1" name="Google Shape;2491;g3a86b571af3_0_122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g3a86b571af3_0_122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3" name="Google Shape;2493;g3a86b571af3_0_122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4" name="Google Shape;2494;g3a86b571af3_0_122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g3a86b571af3_0_122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6" name="Google Shape;2496;g3a86b571af3_0_122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7" name="Google Shape;2497;g3a86b571af3_0_122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8" name="Google Shape;2498;g3a86b571af3_0_122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g3a86b571af3_0_122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g3a86b571af3_0_122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1" name="Google Shape;2501;g3a86b571af3_0_122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2" name="Google Shape;2502;g3a86b571af3_0_122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3" name="Google Shape;2503;g3a86b571af3_0_122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4" name="Google Shape;2504;g3a86b571af3_0_122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Merkle Tree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g3a86b571af3_0_119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1" name="Google Shape;2511;g3a86b571af3_0_119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g3a86b571af3_0_119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3" name="Google Shape;2513;g3a86b571af3_0_119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4" name="Google Shape;2514;g3a86b571af3_0_119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g3a86b571af3_0_119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6" name="Google Shape;2516;g3a86b571af3_0_119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7" name="Google Shape;2517;g3a86b571af3_0_119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8" name="Google Shape;2518;g3a86b571af3_0_119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g3a86b571af3_0_119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g3a86b571af3_0_119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g3a86b571af3_0_119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2" name="Google Shape;2522;g3a86b571af3_0_119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3" name="Google Shape;2523;g3a86b571af3_0_119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g3a86b571af3_0_119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Merkle Tree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g3a86b571af3_0_119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6" name="Google Shape;2526;g3a86b571af3_0_119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7" name="Google Shape;2527;g3a86b571af3_0_119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8" name="Google Shape;2528;g3a86b571af3_0_119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g3a86b571af3_0_119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Hinted Handoff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g3a86b571af3_0_116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" name="Google Shape;2536;g3a86b571af3_0_116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g3a86b571af3_0_116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8" name="Google Shape;2538;g3a86b571af3_0_116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9" name="Google Shape;2539;g3a86b571af3_0_116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g3a86b571af3_0_116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1" name="Google Shape;2541;g3a86b571af3_0_116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2" name="Google Shape;2542;g3a86b571af3_0_116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3" name="Google Shape;2543;g3a86b571af3_0_116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g3a86b571af3_0_116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g3a86b571af3_0_116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6" name="Google Shape;2546;g3a86b571af3_0_116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7" name="Google Shape;2547;g3a86b571af3_0_116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8" name="Google Shape;2548;g3a86b571af3_0_116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9" name="Google Shape;2549;g3a86b571af3_0_116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Merkle Tree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g3a86b571af3_0_116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1" name="Google Shape;2551;g3a86b571af3_0_116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2" name="Google Shape;2552;g3a86b571af3_0_116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3" name="Google Shape;2553;g3a86b571af3_0_116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g3a86b571af3_0_116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Hinted Handoff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5" name="Google Shape;2555;g3a86b571af3_0_116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6" name="Google Shape;2556;g3a86b571af3_0_116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7" name="Google Shape;2557;g3a86b571af3_0_116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8" name="Google Shape;2558;g3a86b571af3_0_116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9" name="Google Shape;2559;g3a86b571af3_0_116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Gossip Forwarding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g3a86b571af3_0_113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6" name="Google Shape;2566;g3a86b571af3_0_113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g3a86b571af3_0_113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8" name="Google Shape;2568;g3a86b571af3_0_113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9" name="Google Shape;2569;g3a86b571af3_0_113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heisst das Verfahren, mit dem Dynamo bei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temporären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1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Ausfällen</a:t>
            </a: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Replicas an Ersatz-Nodes weiterleitet?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g3a86b571af3_0_113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1" name="Google Shape;2571;g3a86b571af3_0_113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2" name="Google Shape;2572;g3a86b571af3_0_113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3" name="Google Shape;2573;g3a86b571af3_0_113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g3a86b571af3_0_113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Repair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g3a86b571af3_0_113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g3a86b571af3_0_113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7" name="Google Shape;2577;g3a86b571af3_0_113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8" name="Google Shape;2578;g3a86b571af3_0_113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g3a86b571af3_0_113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Merkle Tree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g3a86b571af3_0_113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1" name="Google Shape;2581;g3a86b571af3_0_113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2" name="Google Shape;2582;g3a86b571af3_0_113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g3a86b571af3_0_113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g3a86b571af3_0_113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lang="en-US" sz="1200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Hinted Handoff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g3a86b571af3_0_113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6" name="Google Shape;2586;g3a86b571af3_0_113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7" name="Google Shape;2587;g3a86b571af3_0_113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8" name="Google Shape;2588;g3a86b571af3_0_113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g3a86b571af3_0_113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Gossip Forwarding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g3a86b571af3_0_113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1" name="Google Shape;2591;g3a86b571af3_0_113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g3a86b571af3_0_113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Erklärung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Bei Hinted Handoff geht die Replica an einen Ersatz-Node mit einem Hint (Vermerk), an wen sie eigentlich 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gehört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Nach Recovery wird nachgeliefert.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9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9" name="Google Shape;2599;p9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92"/>
          <p:cNvSpPr/>
          <p:nvPr/>
        </p:nvSpPr>
        <p:spPr>
          <a:xfrm>
            <a:off x="320040" y="777240"/>
            <a:ext cx="85039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92"/>
          <p:cNvSpPr/>
          <p:nvPr/>
        </p:nvSpPr>
        <p:spPr>
          <a:xfrm>
            <a:off x="320040" y="777240"/>
            <a:ext cx="64008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2" name="Google Shape;2602;p92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g3a86b571af3_0_141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g3a86b571af3_0_1418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g3a86b571af3_0_1418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1" name="Google Shape;2611;g3a86b571af3_0_1418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g3a86b571af3_0_1418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g3a86b571af3_0_1418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g3a86b571af3_0_1418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g3a86b571af3_0_141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g3a86b571af3_0_1418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g3a86b571af3_0_1418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cachen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g3a86b571af3_0_138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4" name="Google Shape;2624;g3a86b571af3_0_1386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g3a86b571af3_0_1386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6" name="Google Shape;2626;g3a86b571af3_0_1386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g3a86b571af3_0_1386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g3a86b571af3_0_1386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9" name="Google Shape;2629;g3a86b571af3_0_1386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0" name="Google Shape;2630;g3a86b571af3_0_138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1" name="Google Shape;2631;g3a86b571af3_0_1386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g3a86b571af3_0_1386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cachen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g3a86b571af3_0_1386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g3a86b571af3_0_1386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g3a86b571af3_0_138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6" name="Google Shape;2636;g3a86b571af3_0_1386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7" name="Google Shape;2637;g3a86b571af3_0_1386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Größeren Redis-Server nutzen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3a86b571af3_0_1354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g3a86b571af3_0_1354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g3a86b571af3_0_1354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g3a86b571af3_0_1354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7" name="Google Shape;2647;g3a86b571af3_0_1354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g3a86b571af3_0_1354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g3a86b571af3_0_1354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g3a86b571af3_0_135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1" name="Google Shape;2651;g3a86b571af3_0_1354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g3a86b571af3_0_1354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cachen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3" name="Google Shape;2653;g3a86b571af3_0_1354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4" name="Google Shape;2654;g3a86b571af3_0_1354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5" name="Google Shape;2655;g3a86b571af3_0_135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6" name="Google Shape;2656;g3a86b571af3_0_1354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7" name="Google Shape;2657;g3a86b571af3_0_1354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Größeren Redis-Server nutzen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g3a86b571af3_0_1354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9" name="Google Shape;2659;g3a86b571af3_0_1354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0" name="Google Shape;2660;g3a86b571af3_0_135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1" name="Google Shape;2661;g3a86b571af3_0_1354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g3a86b571af3_0_1354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 komplett deaktivieren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g3a86b571af3_0_132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9" name="Google Shape;2669;g3a86b571af3_0_1322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g3a86b571af3_0_1322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g3a86b571af3_0_1322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g3a86b571af3_0_1322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g3a86b571af3_0_1322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g3a86b571af3_0_1322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g3a86b571af3_0_132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g3a86b571af3_0_1322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g3a86b571af3_0_1322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cachen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g3a86b571af3_0_1322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9" name="Google Shape;2679;g3a86b571af3_0_1322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0" name="Google Shape;2680;g3a86b571af3_0_132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g3a86b571af3_0_1322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g3a86b571af3_0_1322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Größeren Redis-Server nutzen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g3a86b571af3_0_1322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g3a86b571af3_0_1322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5" name="Google Shape;2685;g3a86b571af3_0_132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g3a86b571af3_0_1322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7" name="Google Shape;2687;g3a86b571af3_0_1322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 komplett deaktivieren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g3a86b571af3_0_1322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9" name="Google Shape;2689;g3a86b571af3_0_1322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g3a86b571af3_0_132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g3a86b571af3_0_1322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g3a86b571af3_0_1322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Epsilon-Greedy Exploration einbauen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g3a86b571af3_0_129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Google Shape;2699;g3a86b571af3_0_1290"/>
          <p:cNvSpPr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Frage </a:t>
            </a: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0" name="Google Shape;2700;g3a86b571af3_0_1290"/>
          <p:cNvSpPr/>
          <p:nvPr/>
        </p:nvSpPr>
        <p:spPr>
          <a:xfrm>
            <a:off x="320040" y="777240"/>
            <a:ext cx="85038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1" name="Google Shape;2701;g3a86b571af3_0_1290"/>
          <p:cNvSpPr/>
          <p:nvPr/>
        </p:nvSpPr>
        <p:spPr>
          <a:xfrm>
            <a:off x="320040" y="777240"/>
            <a:ext cx="63900" cy="7773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" name="Google Shape;2702;g3a86b571af3_0_1290"/>
          <p:cNvSpPr/>
          <p:nvPr/>
        </p:nvSpPr>
        <p:spPr>
          <a:xfrm>
            <a:off x="502920" y="841248"/>
            <a:ext cx="8138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Wie kann Caching-Bias in Empfehlungssystemen reduziert werden?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g3a86b571af3_0_1290"/>
          <p:cNvSpPr/>
          <p:nvPr/>
        </p:nvSpPr>
        <p:spPr>
          <a:xfrm>
            <a:off x="32004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4" name="Google Shape;2704;g3a86b571af3_0_1290"/>
          <p:cNvSpPr/>
          <p:nvPr/>
        </p:nvSpPr>
        <p:spPr>
          <a:xfrm>
            <a:off x="320040" y="1691640"/>
            <a:ext cx="63900" cy="10059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5" name="Google Shape;2705;g3a86b571af3_0_129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6" name="Google Shape;2706;g3a86b571af3_0_1290"/>
          <p:cNvSpPr/>
          <p:nvPr/>
        </p:nvSpPr>
        <p:spPr>
          <a:xfrm>
            <a:off x="45720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g3a86b571af3_0_1290"/>
          <p:cNvSpPr/>
          <p:nvPr/>
        </p:nvSpPr>
        <p:spPr>
          <a:xfrm>
            <a:off x="100584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Nur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cachen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g3a86b571af3_0_1290"/>
          <p:cNvSpPr/>
          <p:nvPr/>
        </p:nvSpPr>
        <p:spPr>
          <a:xfrm>
            <a:off x="4709160" y="169164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g3a86b571af3_0_1290"/>
          <p:cNvSpPr/>
          <p:nvPr/>
        </p:nvSpPr>
        <p:spPr>
          <a:xfrm>
            <a:off x="4709160" y="1691640"/>
            <a:ext cx="63900" cy="10059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g3a86b571af3_0_129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g3a86b571af3_0_1290"/>
          <p:cNvSpPr/>
          <p:nvPr/>
        </p:nvSpPr>
        <p:spPr>
          <a:xfrm>
            <a:off x="4846320" y="196596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g3a86b571af3_0_1290"/>
          <p:cNvSpPr/>
          <p:nvPr/>
        </p:nvSpPr>
        <p:spPr>
          <a:xfrm>
            <a:off x="5394960" y="176479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Größeren Redis-Server nutzen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g3a86b571af3_0_1290"/>
          <p:cNvSpPr/>
          <p:nvPr/>
        </p:nvSpPr>
        <p:spPr>
          <a:xfrm>
            <a:off x="32004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g3a86b571af3_0_1290"/>
          <p:cNvSpPr/>
          <p:nvPr/>
        </p:nvSpPr>
        <p:spPr>
          <a:xfrm>
            <a:off x="320040" y="2880360"/>
            <a:ext cx="63900" cy="10059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g3a86b571af3_0_129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6" name="Google Shape;2716;g3a86b571af3_0_1290"/>
          <p:cNvSpPr/>
          <p:nvPr/>
        </p:nvSpPr>
        <p:spPr>
          <a:xfrm>
            <a:off x="45720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g3a86b571af3_0_1290"/>
          <p:cNvSpPr/>
          <p:nvPr/>
        </p:nvSpPr>
        <p:spPr>
          <a:xfrm>
            <a:off x="100584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Cache komplett deaktivieren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g3a86b571af3_0_1290"/>
          <p:cNvSpPr/>
          <p:nvPr/>
        </p:nvSpPr>
        <p:spPr>
          <a:xfrm>
            <a:off x="4709160" y="2880360"/>
            <a:ext cx="4206300" cy="1005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9" name="Google Shape;2719;g3a86b571af3_0_1290"/>
          <p:cNvSpPr/>
          <p:nvPr/>
        </p:nvSpPr>
        <p:spPr>
          <a:xfrm>
            <a:off x="4709160" y="2880360"/>
            <a:ext cx="63900" cy="10059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0" name="Google Shape;2720;g3a86b571af3_0_129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g3a86b571af3_0_1290"/>
          <p:cNvSpPr/>
          <p:nvPr/>
        </p:nvSpPr>
        <p:spPr>
          <a:xfrm>
            <a:off x="4846320" y="31546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g3a86b571af3_0_1290"/>
          <p:cNvSpPr/>
          <p:nvPr/>
        </p:nvSpPr>
        <p:spPr>
          <a:xfrm>
            <a:off x="5394960" y="2953512"/>
            <a:ext cx="3337500" cy="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Epsilon-Greedy Exploration einbauen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g3a86b571af3_0_1290"/>
          <p:cNvSpPr/>
          <p:nvPr/>
        </p:nvSpPr>
        <p:spPr>
          <a:xfrm>
            <a:off x="320040" y="4069080"/>
            <a:ext cx="8503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g3a86b571af3_0_1290"/>
          <p:cNvSpPr/>
          <p:nvPr/>
        </p:nvSpPr>
        <p:spPr>
          <a:xfrm>
            <a:off x="320040" y="4069080"/>
            <a:ext cx="639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5" name="Google Shape;2725;g3a86b571af3_0_1290"/>
          <p:cNvSpPr/>
          <p:nvPr/>
        </p:nvSpPr>
        <p:spPr>
          <a:xfrm>
            <a:off x="502920" y="4133088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Erklärung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Ähnlich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wie bei Reinforcement Learning kann 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zufällige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Exploration sicherstellen, dass auch weniger </a:t>
            </a:r>
            <a:r>
              <a:rPr lang="en-US" sz="1150" i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populäre</a:t>
            </a:r>
            <a:r>
              <a:rPr lang="en-US" sz="115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Inhalte eine Chance bekommen.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g3e253f854a2_0_7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g3e253f854a2_0_7"/>
          <p:cNvSpPr/>
          <p:nvPr/>
        </p:nvSpPr>
        <p:spPr>
          <a:xfrm>
            <a:off x="365760" y="1371600"/>
            <a:ext cx="27432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Georgia"/>
              <a:buNone/>
            </a:pPr>
            <a:r>
              <a:rPr lang="en-US" sz="90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g3e253f854a2_0_7"/>
          <p:cNvSpPr/>
          <p:nvPr/>
        </p:nvSpPr>
        <p:spPr>
          <a:xfrm>
            <a:off x="3931920" y="1280160"/>
            <a:ext cx="49377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800"/>
              <a:buFont typeface="Georgia"/>
              <a:buNone/>
            </a:pPr>
            <a:r>
              <a:rPr lang="en-US" sz="3800" b="1">
                <a:solidFill>
                  <a:srgbClr val="1E1B4B"/>
                </a:solidFill>
                <a:latin typeface="Georgia"/>
                <a:ea typeface="Georgia"/>
                <a:cs typeface="Georgia"/>
                <a:sym typeface="Georgia"/>
              </a:rPr>
              <a:t>Diskussion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g3e253f854a2_0_7"/>
          <p:cNvSpPr/>
          <p:nvPr/>
        </p:nvSpPr>
        <p:spPr>
          <a:xfrm>
            <a:off x="3931920" y="3017520"/>
            <a:ext cx="1828800" cy="54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5" name="Google Shape;2745;g3e253f854a2_0_7"/>
          <p:cNvSpPr/>
          <p:nvPr/>
        </p:nvSpPr>
        <p:spPr>
          <a:xfrm>
            <a:off x="3931920" y="320040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10 Minuten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94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2" name="Google Shape;2752;p94"/>
          <p:cNvSpPr/>
          <p:nvPr/>
        </p:nvSpPr>
        <p:spPr>
          <a:xfrm>
            <a:off x="365760" y="13716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Referenzen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Quellen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3" name="Google Shape;2753;p94"/>
          <p:cNvSpPr/>
          <p:nvPr/>
        </p:nvSpPr>
        <p:spPr>
          <a:xfrm>
            <a:off x="3840480" y="3200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[1] DeCandia, G. et al. (2007). Dynamo: Amazon's Highly Available Key-value Store. SOSP '07.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94"/>
          <p:cNvSpPr/>
          <p:nvPr/>
        </p:nvSpPr>
        <p:spPr>
          <a:xfrm>
            <a:off x="3840480" y="7772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[2] Everpure (2024). What Are Key-value Databases? everpuredata.com/knowledge/key-value-databases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94"/>
          <p:cNvSpPr/>
          <p:nvPr/>
        </p:nvSpPr>
        <p:spPr>
          <a:xfrm>
            <a:off x="3840480" y="12344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[3] Redis Documentation. Commands Reference. redis.io/commands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94"/>
          <p:cNvSpPr/>
          <p:nvPr/>
        </p:nvSpPr>
        <p:spPr>
          <a:xfrm>
            <a:off x="3840480" y="16916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[4] Brewer, E. (2000). Towards Robust Distributed Systems (CAP Theorem). PODC Keynote.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7" name="Google Shape;2757;p94"/>
          <p:cNvSpPr/>
          <p:nvPr/>
        </p:nvSpPr>
        <p:spPr>
          <a:xfrm>
            <a:off x="3840480" y="21488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[5] Karger, D. et al. (1997). Consistent Hashing and Random Trees. STOC '97.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94"/>
          <p:cNvSpPr/>
          <p:nvPr/>
        </p:nvSpPr>
        <p:spPr>
          <a:xfrm>
            <a:off x="3840480" y="26060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[6] Lamport, L. (1978). Time, Clocks, and the Ordering of Events. ACM Communications 21(7).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9" name="Google Shape;2759;p94"/>
          <p:cNvSpPr/>
          <p:nvPr/>
        </p:nvSpPr>
        <p:spPr>
          <a:xfrm>
            <a:off x="3840480" y="30632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[7] European Parliament (2016). DSGVO/GDPR. Art. 17 -- Right to Erasure.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94"/>
          <p:cNvSpPr/>
          <p:nvPr/>
        </p:nvSpPr>
        <p:spPr>
          <a:xfrm>
            <a:off x="3840480" y="35204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[8] Redis Ltd. Redis Cluster Specification. redis.io/docs/management/scaling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94"/>
          <p:cNvSpPr/>
          <p:nvPr/>
        </p:nvSpPr>
        <p:spPr>
          <a:xfrm>
            <a:off x="3840480" y="397764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[9] redis-py Documentation. redis.readthedocs.io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7893</Words>
  <Application>Microsoft Office PowerPoint</Application>
  <PresentationFormat>Bildschirmpräsentation (16:9)</PresentationFormat>
  <Paragraphs>1456</Paragraphs>
  <Slides>104</Slides>
  <Notes>104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104</vt:i4>
      </vt:variant>
    </vt:vector>
  </HeadingPairs>
  <TitlesOfParts>
    <vt:vector size="109" baseType="lpstr"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Nick Albrecht</cp:lastModifiedBy>
  <cp:revision>1</cp:revision>
  <dcterms:created xsi:type="dcterms:W3CDTF">2026-05-15T16:48:47Z</dcterms:created>
  <dcterms:modified xsi:type="dcterms:W3CDTF">2026-05-17T17:56:12Z</dcterms:modified>
</cp:coreProperties>
</file>